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media/image10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8288000" cy="10287000"/>
  <p:notesSz cx="6858000" cy="9144000"/>
  <p:embeddedFontLst>
    <p:embeddedFont>
      <p:font typeface="Montserrat Bold Italics" panose="00000800000000000000"/>
      <p:boldItalic r:id="rId27"/>
    </p:embeddedFont>
    <p:embeddedFont>
      <p:font typeface="Montserrat Bold" panose="00000800000000000000"/>
      <p:bold r:id="rId28"/>
    </p:embeddedFont>
    <p:embeddedFont>
      <p:font typeface="Montserrat Semi-Bold Italics" panose="00000700000000000000"/>
      <p:boldItalic r:id="rId29"/>
    </p:embeddedFont>
    <p:embeddedFont>
      <p:font typeface="Montserrat Italics" panose="00000500000000000000"/>
      <p:italic r:id="rId30"/>
    </p:embeddedFont>
    <p:embeddedFont>
      <p:font typeface="Montserrat Semi-Bold" panose="00000700000000000000"/>
      <p:bold r:id="rId31"/>
    </p:embeddedFont>
    <p:embeddedFont>
      <p:font typeface="Montserrat" panose="00000500000000000000"/>
      <p:regular r:id="rId32"/>
    </p:embeddedFont>
    <p:embeddedFont>
      <p:font typeface="Calibri" panose="020F0502020204030204" charset="0"/>
      <p:regular r:id="rId33"/>
      <p:bold r:id="rId34"/>
      <p:italic r:id="rId35"/>
      <p:boldItalic r:id="rId3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6" Type="http://schemas.openxmlformats.org/officeDocument/2006/relationships/font" Target="fonts/font10.fntdata"/><Relationship Id="rId35" Type="http://schemas.openxmlformats.org/officeDocument/2006/relationships/font" Target="fonts/font9.fntdata"/><Relationship Id="rId34" Type="http://schemas.openxmlformats.org/officeDocument/2006/relationships/font" Target="fonts/font8.fntdata"/><Relationship Id="rId33" Type="http://schemas.openxmlformats.org/officeDocument/2006/relationships/font" Target="fonts/font7.fntdata"/><Relationship Id="rId32" Type="http://schemas.openxmlformats.org/officeDocument/2006/relationships/font" Target="fonts/font6.fntdata"/><Relationship Id="rId31" Type="http://schemas.openxmlformats.org/officeDocument/2006/relationships/font" Target="fonts/font5.fntdata"/><Relationship Id="rId30" Type="http://schemas.openxmlformats.org/officeDocument/2006/relationships/font" Target="fonts/font4.fntdata"/><Relationship Id="rId3" Type="http://schemas.openxmlformats.org/officeDocument/2006/relationships/slide" Target="slides/slide1.xml"/><Relationship Id="rId29" Type="http://schemas.openxmlformats.org/officeDocument/2006/relationships/font" Target="fonts/font3.fntdata"/><Relationship Id="rId28" Type="http://schemas.openxmlformats.org/officeDocument/2006/relationships/font" Target="fonts/font2.fntdata"/><Relationship Id="rId27" Type="http://schemas.openxmlformats.org/officeDocument/2006/relationships/font" Target="fonts/font1.fntdata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0.svg"/><Relationship Id="rId3" Type="http://schemas.openxmlformats.org/officeDocument/2006/relationships/image" Target="../media/image9.png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2.svg"/><Relationship Id="rId3" Type="http://schemas.openxmlformats.org/officeDocument/2006/relationships/image" Target="../media/image1.png"/><Relationship Id="rId2" Type="http://schemas.openxmlformats.org/officeDocument/2006/relationships/image" Target="../media/image8.sv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0.svg"/><Relationship Id="rId3" Type="http://schemas.openxmlformats.org/officeDocument/2006/relationships/image" Target="../media/image9.png"/><Relationship Id="rId2" Type="http://schemas.openxmlformats.org/officeDocument/2006/relationships/image" Target="../media/image6.svg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2.svg"/><Relationship Id="rId3" Type="http://schemas.openxmlformats.org/officeDocument/2006/relationships/image" Target="../media/image1.png"/><Relationship Id="rId2" Type="http://schemas.openxmlformats.org/officeDocument/2006/relationships/image" Target="../media/image8.svg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2.svg"/><Relationship Id="rId3" Type="http://schemas.openxmlformats.org/officeDocument/2006/relationships/image" Target="../media/image1.png"/><Relationship Id="rId2" Type="http://schemas.openxmlformats.org/officeDocument/2006/relationships/image" Target="../media/image8.svg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2.svg"/><Relationship Id="rId3" Type="http://schemas.openxmlformats.org/officeDocument/2006/relationships/image" Target="../media/image1.png"/><Relationship Id="rId2" Type="http://schemas.openxmlformats.org/officeDocument/2006/relationships/image" Target="../media/image8.svg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.xml"/><Relationship Id="rId7" Type="http://schemas.openxmlformats.org/officeDocument/2006/relationships/hyperlink" Target="https://paytm.com" TargetMode="External"/><Relationship Id="rId6" Type="http://schemas.openxmlformats.org/officeDocument/2006/relationships/image" Target="../media/image2.svg"/><Relationship Id="rId5" Type="http://schemas.openxmlformats.org/officeDocument/2006/relationships/image" Target="../media/image12.png"/><Relationship Id="rId4" Type="http://schemas.openxmlformats.org/officeDocument/2006/relationships/image" Target="../media/image6.svg"/><Relationship Id="rId3" Type="http://schemas.openxmlformats.org/officeDocument/2006/relationships/image" Target="../media/image14.png"/><Relationship Id="rId2" Type="http://schemas.openxmlformats.org/officeDocument/2006/relationships/image" Target="../media/image8.svg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4.svg"/><Relationship Id="rId3" Type="http://schemas.openxmlformats.org/officeDocument/2006/relationships/image" Target="../media/image13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8.svg"/><Relationship Id="rId7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14.png"/><Relationship Id="rId4" Type="http://schemas.openxmlformats.org/officeDocument/2006/relationships/image" Target="../media/image10.svg"/><Relationship Id="rId3" Type="http://schemas.openxmlformats.org/officeDocument/2006/relationships/image" Target="../media/image16.png"/><Relationship Id="rId2" Type="http://schemas.openxmlformats.org/officeDocument/2006/relationships/image" Target="../media/image2.svg"/><Relationship Id="rId1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1327926" y="-5654656"/>
            <a:ext cx="20632285" cy="20632285"/>
          </a:xfrm>
          <a:custGeom>
            <a:avLst/>
            <a:gdLst/>
            <a:ahLst/>
            <a:cxnLst/>
            <a:rect l="l" t="t" r="r" b="b"/>
            <a:pathLst>
              <a:path w="20632285" h="20632285">
                <a:moveTo>
                  <a:pt x="0" y="0"/>
                </a:moveTo>
                <a:lnTo>
                  <a:pt x="20632285" y="0"/>
                </a:lnTo>
                <a:lnTo>
                  <a:pt x="20632285" y="20632286"/>
                </a:lnTo>
                <a:lnTo>
                  <a:pt x="0" y="2063228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4589788" y="2862044"/>
            <a:ext cx="9108424" cy="5581675"/>
            <a:chOff x="0" y="0"/>
            <a:chExt cx="2934740" cy="17984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34740" cy="1798419"/>
            </a:xfrm>
            <a:custGeom>
              <a:avLst/>
              <a:gdLst/>
              <a:ahLst/>
              <a:cxnLst/>
              <a:rect l="l" t="t" r="r" b="b"/>
              <a:pathLst>
                <a:path w="2934740" h="1798419">
                  <a:moveTo>
                    <a:pt x="45049" y="0"/>
                  </a:moveTo>
                  <a:lnTo>
                    <a:pt x="2889692" y="0"/>
                  </a:lnTo>
                  <a:cubicBezTo>
                    <a:pt x="2914571" y="0"/>
                    <a:pt x="2934740" y="20169"/>
                    <a:pt x="2934740" y="45049"/>
                  </a:cubicBezTo>
                  <a:lnTo>
                    <a:pt x="2934740" y="1753371"/>
                  </a:lnTo>
                  <a:cubicBezTo>
                    <a:pt x="2934740" y="1778250"/>
                    <a:pt x="2914571" y="1798419"/>
                    <a:pt x="2889692" y="1798419"/>
                  </a:cubicBezTo>
                  <a:lnTo>
                    <a:pt x="45049" y="1798419"/>
                  </a:lnTo>
                  <a:cubicBezTo>
                    <a:pt x="20169" y="1798419"/>
                    <a:pt x="0" y="1778250"/>
                    <a:pt x="0" y="1753371"/>
                  </a:cubicBezTo>
                  <a:lnTo>
                    <a:pt x="0" y="45049"/>
                  </a:lnTo>
                  <a:cubicBezTo>
                    <a:pt x="0" y="20169"/>
                    <a:pt x="20169" y="0"/>
                    <a:pt x="45049" y="0"/>
                  </a:cubicBezTo>
                  <a:close/>
                </a:path>
              </a:pathLst>
            </a:custGeom>
            <a:solidFill>
              <a:srgbClr val="000000">
                <a:alpha val="44706"/>
              </a:srgbClr>
            </a:solidFill>
            <a:ln w="66675" cap="rnd">
              <a:gradFill>
                <a:gsLst>
                  <a:gs pos="0">
                    <a:srgbClr val="F7DFFF">
                      <a:alpha val="45000"/>
                    </a:srgbClr>
                  </a:gs>
                  <a:gs pos="50000">
                    <a:srgbClr val="FFFFFF">
                      <a:alpha val="45000"/>
                    </a:srgbClr>
                  </a:gs>
                  <a:gs pos="100000">
                    <a:srgbClr val="87EFFF">
                      <a:alpha val="45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34740" cy="18365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5869586" y="6715409"/>
            <a:ext cx="6548829" cy="912181"/>
            <a:chOff x="0" y="0"/>
            <a:chExt cx="2110037" cy="29390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10037" cy="293905"/>
            </a:xfrm>
            <a:custGeom>
              <a:avLst/>
              <a:gdLst/>
              <a:ahLst/>
              <a:cxnLst/>
              <a:rect l="l" t="t" r="r" b="b"/>
              <a:pathLst>
                <a:path w="2110037" h="293905">
                  <a:moveTo>
                    <a:pt x="118218" y="0"/>
                  </a:moveTo>
                  <a:lnTo>
                    <a:pt x="1991819" y="0"/>
                  </a:lnTo>
                  <a:cubicBezTo>
                    <a:pt x="2057109" y="0"/>
                    <a:pt x="2110037" y="52928"/>
                    <a:pt x="2110037" y="118218"/>
                  </a:cubicBezTo>
                  <a:lnTo>
                    <a:pt x="2110037" y="175687"/>
                  </a:lnTo>
                  <a:cubicBezTo>
                    <a:pt x="2110037" y="207040"/>
                    <a:pt x="2097582" y="237110"/>
                    <a:pt x="2075411" y="259280"/>
                  </a:cubicBezTo>
                  <a:cubicBezTo>
                    <a:pt x="2053241" y="281450"/>
                    <a:pt x="2023172" y="293905"/>
                    <a:pt x="1991819" y="293905"/>
                  </a:cubicBezTo>
                  <a:lnTo>
                    <a:pt x="118218" y="293905"/>
                  </a:lnTo>
                  <a:cubicBezTo>
                    <a:pt x="52928" y="293905"/>
                    <a:pt x="0" y="240977"/>
                    <a:pt x="0" y="175687"/>
                  </a:cubicBezTo>
                  <a:lnTo>
                    <a:pt x="0" y="118218"/>
                  </a:lnTo>
                  <a:cubicBezTo>
                    <a:pt x="0" y="52928"/>
                    <a:pt x="52928" y="0"/>
                    <a:pt x="1182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10037" cy="3320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2" name="Freeform 12"/>
          <p:cNvSpPr/>
          <p:nvPr/>
        </p:nvSpPr>
        <p:spPr>
          <a:xfrm rot="-2443606">
            <a:off x="7226748" y="607904"/>
            <a:ext cx="819790" cy="593230"/>
          </a:xfrm>
          <a:custGeom>
            <a:avLst/>
            <a:gdLst/>
            <a:ahLst/>
            <a:cxnLst/>
            <a:rect l="l" t="t" r="r" b="b"/>
            <a:pathLst>
              <a:path w="819790" h="593230">
                <a:moveTo>
                  <a:pt x="0" y="0"/>
                </a:moveTo>
                <a:lnTo>
                  <a:pt x="819790" y="0"/>
                </a:lnTo>
                <a:lnTo>
                  <a:pt x="819790" y="593230"/>
                </a:lnTo>
                <a:lnTo>
                  <a:pt x="0" y="59323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731160" y="3218673"/>
            <a:ext cx="8967052" cy="193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530"/>
              </a:lnSpc>
            </a:pPr>
            <a:r>
              <a:rPr lang="en-US" sz="4855" b="1" spc="-267">
                <a:solidFill>
                  <a:srgbClr val="FF0000"/>
                </a:solidFill>
                <a:latin typeface="Calibri" panose="020F0502020204030204" charset="0"/>
                <a:ea typeface="VAG Rounded Next Shine" panose="04020805020F02030202"/>
                <a:cs typeface="Calibri" panose="020F0502020204030204" charset="0"/>
                <a:sym typeface="VAG Rounded Next Shine" panose="04020805020F02030202"/>
              </a:rPr>
              <a:t>Phishing Awareness Training</a:t>
            </a:r>
            <a:endParaRPr lang="en-US" sz="4855" b="1" spc="-267">
              <a:solidFill>
                <a:srgbClr val="FF0000"/>
              </a:solidFill>
              <a:latin typeface="Calibri" panose="020F0502020204030204" charset="0"/>
              <a:ea typeface="VAG Rounded Next Shine" panose="04020805020F02030202"/>
              <a:cs typeface="Calibri" panose="020F0502020204030204" charset="0"/>
              <a:sym typeface="VAG Rounded Next Shine" panose="04020805020F02030202"/>
            </a:endParaRPr>
          </a:p>
          <a:p>
            <a:pPr marL="0" lvl="0" indent="0" algn="ctr">
              <a:lnSpc>
                <a:spcPts val="7530"/>
              </a:lnSpc>
            </a:pPr>
            <a:r>
              <a:rPr lang="en-US" sz="4855" b="1" spc="-267">
                <a:solidFill>
                  <a:srgbClr val="FF0000"/>
                </a:solidFill>
                <a:latin typeface="Calibri" panose="020F0502020204030204" charset="0"/>
                <a:ea typeface="VAG Rounded Next Shine" panose="04020805020F02030202"/>
                <a:cs typeface="Calibri" panose="020F0502020204030204" charset="0"/>
                <a:sym typeface="VAG Rounded Next Shine" panose="04020805020F02030202"/>
              </a:rPr>
              <a:t>Protecting Yourself from Cyber Threats</a:t>
            </a:r>
            <a:endParaRPr lang="en-US" sz="4855" b="1" spc="-267">
              <a:solidFill>
                <a:srgbClr val="FF0000"/>
              </a:solidFill>
              <a:latin typeface="Calibri" panose="020F0502020204030204" charset="0"/>
              <a:ea typeface="VAG Rounded Next Shine" panose="04020805020F02030202"/>
              <a:cs typeface="Calibri" panose="020F0502020204030204" charset="0"/>
              <a:sym typeface="VAG Rounded Next Shine" panose="04020805020F02030202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019800" y="6987540"/>
            <a:ext cx="6659880" cy="63944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0" lvl="0" indent="0" algn="ctr">
              <a:lnSpc>
                <a:spcPts val="3940"/>
              </a:lnSpc>
              <a:spcBef>
                <a:spcPct val="0"/>
              </a:spcBef>
            </a:pPr>
            <a:r>
              <a:rPr lang="en-US" sz="3600" b="1" u="none" strike="noStrike" spc="14">
                <a:solidFill>
                  <a:srgbClr val="00B0F0"/>
                </a:solidFill>
                <a:latin typeface="Calibri" panose="020F0502020204030204" charset="0"/>
                <a:ea typeface="Palm Club"/>
                <a:cs typeface="Calibri" panose="020F0502020204030204" charset="0"/>
                <a:sym typeface="Palm Club"/>
              </a:rPr>
              <a:t>Presented by</a:t>
            </a:r>
            <a:r>
              <a:rPr lang="en-US" sz="3200" b="1" u="none" strike="noStrike" spc="14">
                <a:solidFill>
                  <a:srgbClr val="00B0F0"/>
                </a:solidFill>
                <a:latin typeface="Calibri" panose="020F0502020204030204" charset="0"/>
                <a:ea typeface="Palm Club"/>
                <a:cs typeface="Calibri" panose="020F0502020204030204" charset="0"/>
                <a:sym typeface="Palm Club"/>
              </a:rPr>
              <a:t> </a:t>
            </a:r>
            <a:r>
              <a:rPr lang="en-IN" altLang="en-US" sz="3200" b="1" u="none" strike="noStrike" spc="14">
                <a:solidFill>
                  <a:srgbClr val="00B0F0"/>
                </a:solidFill>
                <a:latin typeface="Calibri" panose="020F0502020204030204" charset="0"/>
                <a:ea typeface="Palm Club"/>
                <a:cs typeface="Calibri" panose="020F0502020204030204" charset="0"/>
                <a:sym typeface="Palm Club"/>
              </a:rPr>
              <a:t>:</a:t>
            </a:r>
            <a:r>
              <a:rPr lang="en-IN" altLang="en-US" sz="3600" b="1" u="none" strike="noStrike" spc="14">
                <a:solidFill>
                  <a:srgbClr val="00B0F0"/>
                </a:solidFill>
                <a:latin typeface="Palm Club"/>
                <a:ea typeface="Palm Club"/>
                <a:cs typeface="Palm Club"/>
                <a:sym typeface="Palm Club"/>
              </a:rPr>
              <a:t> </a:t>
            </a:r>
            <a:r>
              <a:rPr lang="en-IN" altLang="en-US" sz="3600" b="1" u="none" strike="noStrike" spc="14">
                <a:solidFill>
                  <a:srgbClr val="00B0F0"/>
                </a:solidFill>
                <a:latin typeface="+mj-lt"/>
                <a:ea typeface="Palm Club"/>
                <a:cs typeface="+mj-lt"/>
                <a:sym typeface="Palm Club"/>
              </a:rPr>
              <a:t>Gokul </a:t>
            </a:r>
            <a:r>
              <a:rPr lang="en-IN" altLang="en-US" sz="3600" b="1" u="none" strike="noStrike" spc="14">
                <a:solidFill>
                  <a:srgbClr val="00B0F0"/>
                </a:solidFill>
                <a:latin typeface="Calibri" panose="020F0502020204030204" charset="0"/>
                <a:ea typeface="Palm Club"/>
                <a:cs typeface="Calibri" panose="020F0502020204030204" charset="0"/>
                <a:sym typeface="Palm Club"/>
              </a:rPr>
              <a:t>Krishna K</a:t>
            </a:r>
            <a:endParaRPr lang="en-IN" altLang="en-US" sz="3600" b="1" u="none" strike="noStrike" spc="14">
              <a:solidFill>
                <a:srgbClr val="00B0F0"/>
              </a:solidFill>
              <a:latin typeface="Calibri" panose="020F0502020204030204" charset="0"/>
              <a:ea typeface="Palm Club"/>
              <a:cs typeface="Calibri" panose="020F0502020204030204" charset="0"/>
              <a:sym typeface="Palm Club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920469" y="971194"/>
            <a:ext cx="2969155" cy="380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0"/>
              </a:lnSpc>
            </a:pPr>
            <a:r>
              <a:rPr lang="en-US" sz="3000" b="1" i="1" spc="-164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SLIDE: 1</a:t>
            </a:r>
            <a:endParaRPr lang="en-US" sz="3000" b="1" i="1" spc="-164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700261" y="-15109961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349491" y="-1576683"/>
            <a:ext cx="23235874" cy="21039028"/>
          </a:xfrm>
          <a:custGeom>
            <a:avLst/>
            <a:gdLst/>
            <a:ahLst/>
            <a:cxnLst/>
            <a:rect l="l" t="t" r="r" b="b"/>
            <a:pathLst>
              <a:path w="23235874" h="21039028">
                <a:moveTo>
                  <a:pt x="0" y="0"/>
                </a:moveTo>
                <a:lnTo>
                  <a:pt x="23235874" y="0"/>
                </a:lnTo>
                <a:lnTo>
                  <a:pt x="23235874" y="21039027"/>
                </a:lnTo>
                <a:lnTo>
                  <a:pt x="0" y="210390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2475314">
            <a:off x="314465" y="326025"/>
            <a:ext cx="850558" cy="615495"/>
          </a:xfrm>
          <a:custGeom>
            <a:avLst/>
            <a:gdLst/>
            <a:ahLst/>
            <a:cxnLst/>
            <a:rect l="l" t="t" r="r" b="b"/>
            <a:pathLst>
              <a:path w="850558" h="615495">
                <a:moveTo>
                  <a:pt x="0" y="0"/>
                </a:moveTo>
                <a:lnTo>
                  <a:pt x="850558" y="0"/>
                </a:lnTo>
                <a:lnTo>
                  <a:pt x="850558" y="615495"/>
                </a:lnTo>
                <a:lnTo>
                  <a:pt x="0" y="61549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 rot="0">
            <a:off x="217095" y="2529169"/>
            <a:ext cx="4573781" cy="4299761"/>
            <a:chOff x="0" y="0"/>
            <a:chExt cx="864599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64599" cy="812800"/>
            </a:xfrm>
            <a:custGeom>
              <a:avLst/>
              <a:gdLst/>
              <a:ahLst/>
              <a:cxnLst/>
              <a:rect l="l" t="t" r="r" b="b"/>
              <a:pathLst>
                <a:path w="864599" h="812800">
                  <a:moveTo>
                    <a:pt x="432299" y="0"/>
                  </a:moveTo>
                  <a:cubicBezTo>
                    <a:pt x="193547" y="0"/>
                    <a:pt x="0" y="181951"/>
                    <a:pt x="0" y="406400"/>
                  </a:cubicBezTo>
                  <a:cubicBezTo>
                    <a:pt x="0" y="630849"/>
                    <a:pt x="193547" y="812800"/>
                    <a:pt x="432299" y="812800"/>
                  </a:cubicBezTo>
                  <a:cubicBezTo>
                    <a:pt x="671052" y="812800"/>
                    <a:pt x="864599" y="630849"/>
                    <a:pt x="864599" y="406400"/>
                  </a:cubicBezTo>
                  <a:cubicBezTo>
                    <a:pt x="864599" y="181951"/>
                    <a:pt x="671052" y="0"/>
                    <a:pt x="43229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1056" y="104775"/>
              <a:ext cx="702487" cy="631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80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8" name="Group 8"/>
          <p:cNvGrpSpPr/>
          <p:nvPr/>
        </p:nvGrpSpPr>
        <p:grpSpPr>
          <a:xfrm rot="0">
            <a:off x="3730322" y="6644833"/>
            <a:ext cx="3125476" cy="2942865"/>
            <a:chOff x="0" y="0"/>
            <a:chExt cx="863236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63236" cy="812800"/>
            </a:xfrm>
            <a:custGeom>
              <a:avLst/>
              <a:gdLst/>
              <a:ahLst/>
              <a:cxnLst/>
              <a:rect l="l" t="t" r="r" b="b"/>
              <a:pathLst>
                <a:path w="863236" h="812800">
                  <a:moveTo>
                    <a:pt x="431618" y="0"/>
                  </a:moveTo>
                  <a:cubicBezTo>
                    <a:pt x="193242" y="0"/>
                    <a:pt x="0" y="181951"/>
                    <a:pt x="0" y="406400"/>
                  </a:cubicBezTo>
                  <a:cubicBezTo>
                    <a:pt x="0" y="630849"/>
                    <a:pt x="193242" y="812800"/>
                    <a:pt x="431618" y="812800"/>
                  </a:cubicBezTo>
                  <a:cubicBezTo>
                    <a:pt x="669994" y="812800"/>
                    <a:pt x="863236" y="630849"/>
                    <a:pt x="863236" y="406400"/>
                  </a:cubicBezTo>
                  <a:cubicBezTo>
                    <a:pt x="863236" y="181951"/>
                    <a:pt x="669994" y="0"/>
                    <a:pt x="4316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3DEF">
                    <a:alpha val="100000"/>
                  </a:srgbClr>
                </a:gs>
                <a:gs pos="100000">
                  <a:srgbClr val="0047FF">
                    <a:alpha val="100000"/>
                  </a:srgbClr>
                </a:gs>
              </a:gsLst>
              <a:lin ang="8100000"/>
            </a:gradFill>
            <a:ln cap="sq">
              <a:noFill/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928" y="104775"/>
              <a:ext cx="701379" cy="631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800"/>
                </a:lnSpc>
              </a:pPr>
            </a:p>
          </p:txBody>
        </p:sp>
      </p:grpSp>
      <p:grpSp>
        <p:nvGrpSpPr>
          <p:cNvPr id="11" name="Group 11"/>
          <p:cNvGrpSpPr/>
          <p:nvPr/>
        </p:nvGrpSpPr>
        <p:grpSpPr>
          <a:xfrm rot="0">
            <a:off x="7793189" y="5022597"/>
            <a:ext cx="3525533" cy="3525533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104775"/>
              <a:ext cx="660400" cy="631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80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4" name="Group 14"/>
          <p:cNvGrpSpPr/>
          <p:nvPr/>
        </p:nvGrpSpPr>
        <p:grpSpPr>
          <a:xfrm rot="0">
            <a:off x="12832065" y="3442274"/>
            <a:ext cx="3571130" cy="3571130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3DEF">
                    <a:alpha val="100000"/>
                  </a:srgbClr>
                </a:gs>
                <a:gs pos="100000">
                  <a:srgbClr val="0047FF">
                    <a:alpha val="100000"/>
                  </a:srgbClr>
                </a:gs>
              </a:gsLst>
              <a:lin ang="8100000"/>
            </a:gradFill>
            <a:ln cap="sq">
              <a:noFill/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133350"/>
              <a:ext cx="660400" cy="6032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00"/>
                </a:lnSpc>
              </a:pPr>
              <a:r>
                <a:rPr lang="en-US" sz="3000" b="1" i="1" spc="-165">
                  <a:solidFill>
                    <a:srgbClr val="5CE1E6"/>
                  </a:solidFill>
                  <a:latin typeface="Montserrat Bold Italics" panose="00000800000000000000"/>
                  <a:ea typeface="Montserrat Bold Italics" panose="00000800000000000000"/>
                  <a:cs typeface="Montserrat Bold Italics" panose="00000800000000000000"/>
                  <a:sym typeface="Montserrat Bold Italics" panose="00000800000000000000"/>
                </a:rPr>
                <a:t>4 . Apply best practices to stay secure</a:t>
              </a:r>
              <a:endParaRPr lang="en-US" sz="3000" b="1" i="1" spc="-165">
                <a:solidFill>
                  <a:srgbClr val="5CE1E6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endParaRPr>
            </a:p>
            <a:p>
              <a:pPr marL="0" lvl="0" indent="0" algn="ctr">
                <a:lnSpc>
                  <a:spcPts val="1800"/>
                </a:lnSpc>
              </a:pP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448352" y="1075167"/>
            <a:ext cx="8394230" cy="994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50"/>
              </a:lnSpc>
            </a:pPr>
            <a:r>
              <a:rPr lang="en-US" sz="6210">
                <a:solidFill>
                  <a:srgbClr val="CCCCE8"/>
                </a:solidFill>
                <a:latin typeface="Gladiola" panose="00000500000000000000"/>
                <a:ea typeface="Gladiola" panose="00000500000000000000"/>
                <a:cs typeface="Gladiola" panose="00000500000000000000"/>
                <a:sym typeface="Gladiola" panose="00000500000000000000"/>
              </a:rPr>
              <a:t>Learning Objectives</a:t>
            </a:r>
            <a:endParaRPr lang="en-US" sz="6210">
              <a:solidFill>
                <a:srgbClr val="CCCCE8"/>
              </a:solidFill>
              <a:latin typeface="Gladiola" panose="00000500000000000000"/>
              <a:ea typeface="Gladiola" panose="00000500000000000000"/>
              <a:cs typeface="Gladiola" panose="00000500000000000000"/>
              <a:sym typeface="Gladiola" panose="00000500000000000000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06470" y="721340"/>
            <a:ext cx="2579392" cy="424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</a:pPr>
            <a:r>
              <a:rPr lang="en-US" sz="3200" b="1" spc="-176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🎯 SLIDE : 2</a:t>
            </a:r>
            <a:endParaRPr lang="en-US" sz="3200" b="1" spc="-176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739744" y="3472204"/>
            <a:ext cx="3809213" cy="2325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9130" lvl="1" indent="-329565" algn="l">
              <a:lnSpc>
                <a:spcPts val="4700"/>
              </a:lnSpc>
              <a:buAutoNum type="arabicPeriod"/>
            </a:pPr>
            <a:r>
              <a:rPr lang="en-US" sz="3050" spc="253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Understand what phishing is</a:t>
            </a:r>
            <a:endParaRPr lang="en-US" sz="3050" spc="253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ctr">
              <a:lnSpc>
                <a:spcPts val="4700"/>
              </a:lnSpc>
            </a:pPr>
          </a:p>
        </p:txBody>
      </p:sp>
      <p:sp>
        <p:nvSpPr>
          <p:cNvPr id="20" name="TextBox 20"/>
          <p:cNvSpPr txBox="1"/>
          <p:nvPr/>
        </p:nvSpPr>
        <p:spPr>
          <a:xfrm>
            <a:off x="3921784" y="7136155"/>
            <a:ext cx="2759238" cy="2291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0"/>
              </a:lnSpc>
            </a:pPr>
            <a:r>
              <a:rPr lang="en-US" sz="3000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2 . Identify common phishing techniques</a:t>
            </a:r>
            <a:endParaRPr lang="en-US" sz="3000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ctr">
              <a:lnSpc>
                <a:spcPts val="3630"/>
              </a:lnSpc>
            </a:pPr>
          </a:p>
        </p:txBody>
      </p:sp>
      <p:sp>
        <p:nvSpPr>
          <p:cNvPr id="21" name="TextBox 21"/>
          <p:cNvSpPr txBox="1"/>
          <p:nvPr/>
        </p:nvSpPr>
        <p:spPr>
          <a:xfrm>
            <a:off x="8205145" y="5904952"/>
            <a:ext cx="2701622" cy="2423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5"/>
              </a:lnSpc>
            </a:pPr>
            <a:r>
              <a:rPr lang="en-US" sz="3010" spc="313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3.Recognize suspicious emails and websites</a:t>
            </a:r>
            <a:endParaRPr lang="en-US" sz="3010" spc="313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ctr">
              <a:lnSpc>
                <a:spcPts val="3885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475314">
            <a:off x="362612" y="448950"/>
            <a:ext cx="895257" cy="647841"/>
          </a:xfrm>
          <a:custGeom>
            <a:avLst/>
            <a:gdLst/>
            <a:ahLst/>
            <a:cxnLst/>
            <a:rect l="l" t="t" r="r" b="b"/>
            <a:pathLst>
              <a:path w="895257" h="647841">
                <a:moveTo>
                  <a:pt x="0" y="0"/>
                </a:moveTo>
                <a:lnTo>
                  <a:pt x="895257" y="0"/>
                </a:lnTo>
                <a:lnTo>
                  <a:pt x="895257" y="647841"/>
                </a:lnTo>
                <a:lnTo>
                  <a:pt x="0" y="647841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3909884" flipH="1">
            <a:off x="12613941" y="164385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3"/>
                </a:lnTo>
                <a:lnTo>
                  <a:pt x="14319658" y="14625633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3">
              <a:alphaModFix amt="32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3019291" y="2253933"/>
            <a:ext cx="6358575" cy="635857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3832" y="0"/>
                  </a:moveTo>
                  <a:lnTo>
                    <a:pt x="768968" y="0"/>
                  </a:lnTo>
                  <a:cubicBezTo>
                    <a:pt x="793176" y="0"/>
                    <a:pt x="812800" y="19624"/>
                    <a:pt x="812800" y="43832"/>
                  </a:cubicBezTo>
                  <a:lnTo>
                    <a:pt x="812800" y="768968"/>
                  </a:lnTo>
                  <a:cubicBezTo>
                    <a:pt x="812800" y="793176"/>
                    <a:pt x="793176" y="812800"/>
                    <a:pt x="768968" y="812800"/>
                  </a:cubicBezTo>
                  <a:lnTo>
                    <a:pt x="43832" y="812800"/>
                  </a:lnTo>
                  <a:cubicBezTo>
                    <a:pt x="19624" y="812800"/>
                    <a:pt x="0" y="793176"/>
                    <a:pt x="0" y="768968"/>
                  </a:cubicBezTo>
                  <a:lnTo>
                    <a:pt x="0" y="43832"/>
                  </a:lnTo>
                  <a:cubicBezTo>
                    <a:pt x="0" y="19624"/>
                    <a:pt x="19624" y="0"/>
                    <a:pt x="43832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w="38100" cap="rnd">
              <a:solidFill>
                <a:srgbClr val="E7F2FA"/>
              </a:solidFill>
              <a:prstDash val="solid"/>
              <a:round/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10209201" y="1911679"/>
            <a:ext cx="8078799" cy="8375321"/>
            <a:chOff x="0" y="0"/>
            <a:chExt cx="2602994" cy="269853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602994" cy="2698534"/>
            </a:xfrm>
            <a:custGeom>
              <a:avLst/>
              <a:gdLst/>
              <a:ahLst/>
              <a:cxnLst/>
              <a:rect l="l" t="t" r="r" b="b"/>
              <a:pathLst>
                <a:path w="2602994" h="2698534">
                  <a:moveTo>
                    <a:pt x="28749" y="0"/>
                  </a:moveTo>
                  <a:lnTo>
                    <a:pt x="2574245" y="0"/>
                  </a:lnTo>
                  <a:cubicBezTo>
                    <a:pt x="2590123" y="0"/>
                    <a:pt x="2602994" y="12871"/>
                    <a:pt x="2602994" y="28749"/>
                  </a:cubicBezTo>
                  <a:lnTo>
                    <a:pt x="2602994" y="2669785"/>
                  </a:lnTo>
                  <a:cubicBezTo>
                    <a:pt x="2602994" y="2685662"/>
                    <a:pt x="2590123" y="2698534"/>
                    <a:pt x="2574245" y="2698534"/>
                  </a:cubicBezTo>
                  <a:lnTo>
                    <a:pt x="28749" y="2698534"/>
                  </a:lnTo>
                  <a:cubicBezTo>
                    <a:pt x="12871" y="2698534"/>
                    <a:pt x="0" y="2685662"/>
                    <a:pt x="0" y="2669785"/>
                  </a:cubicBezTo>
                  <a:lnTo>
                    <a:pt x="0" y="28749"/>
                  </a:lnTo>
                  <a:cubicBezTo>
                    <a:pt x="0" y="12871"/>
                    <a:pt x="12871" y="0"/>
                    <a:pt x="2874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rnd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602994" cy="273663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1035216" y="599946"/>
            <a:ext cx="8558486" cy="1653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70"/>
              </a:lnSpc>
            </a:pPr>
            <a:r>
              <a:rPr lang="en-US" sz="6370" spc="-350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What is Phishing?</a:t>
            </a:r>
            <a:endParaRPr lang="en-US" sz="6370" spc="-350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l">
              <a:lnSpc>
                <a:spcPts val="6370"/>
              </a:lnSpc>
            </a:pPr>
          </a:p>
        </p:txBody>
      </p:sp>
      <p:sp>
        <p:nvSpPr>
          <p:cNvPr id="10" name="TextBox 10"/>
          <p:cNvSpPr txBox="1"/>
          <p:nvPr/>
        </p:nvSpPr>
        <p:spPr>
          <a:xfrm>
            <a:off x="1028700" y="830021"/>
            <a:ext cx="3017166" cy="794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0"/>
              </a:lnSpc>
            </a:pPr>
            <a:r>
              <a:rPr lang="en-US" sz="3050" b="1" spc="-167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🧠 SLIDE : 3 </a:t>
            </a:r>
            <a:endParaRPr lang="en-US" sz="3050" b="1" spc="-167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  <a:p>
            <a:pPr marL="0" lvl="0" indent="0" algn="l">
              <a:lnSpc>
                <a:spcPts val="3050"/>
              </a:lnSpc>
            </a:pPr>
          </a:p>
        </p:txBody>
      </p:sp>
      <p:sp>
        <p:nvSpPr>
          <p:cNvPr id="11" name="TextBox 11"/>
          <p:cNvSpPr txBox="1"/>
          <p:nvPr/>
        </p:nvSpPr>
        <p:spPr>
          <a:xfrm>
            <a:off x="10391565" y="2040103"/>
            <a:ext cx="7663038" cy="7964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80"/>
              </a:lnSpc>
            </a:pPr>
            <a:r>
              <a:rPr lang="en-US" sz="3115" b="1" i="1" u="sng">
                <a:solidFill>
                  <a:srgbClr val="FFC700"/>
                </a:solidFill>
                <a:latin typeface="Roca One Heavy Italics" panose="00000A00000000000000"/>
                <a:ea typeface="Roca One Heavy Italics" panose="00000A00000000000000"/>
                <a:cs typeface="Roca One Heavy Italics" panose="00000A00000000000000"/>
                <a:sym typeface="Roca One Heavy Italics" panose="00000A00000000000000"/>
              </a:rPr>
              <a:t>PHISHING  IS  A  TYPE  OF  CYBER ATTACK  WHERE  ATTACKERS ATTEMPT  TO  TRICK  INDIVIDUALS INTO REVEALING  SENSITIVE INFORMATION  SUCH AS</a:t>
            </a:r>
            <a:endParaRPr lang="en-US" sz="3115" b="1" i="1" u="sng">
              <a:solidFill>
                <a:srgbClr val="FFC700"/>
              </a:solidFill>
              <a:latin typeface="Roca One Heavy Italics" panose="00000A00000000000000"/>
              <a:ea typeface="Roca One Heavy Italics" panose="00000A00000000000000"/>
              <a:cs typeface="Roca One Heavy Italics" panose="00000A00000000000000"/>
              <a:sym typeface="Roca One Heavy Italics" panose="00000A00000000000000"/>
            </a:endParaRPr>
          </a:p>
          <a:p>
            <a:pPr algn="l">
              <a:lnSpc>
                <a:spcPts val="4295"/>
              </a:lnSpc>
            </a:pPr>
          </a:p>
          <a:p>
            <a:pPr algn="l">
              <a:lnSpc>
                <a:spcPts val="4295"/>
              </a:lnSpc>
            </a:pPr>
            <a:r>
              <a:rPr lang="en-US" sz="3115" b="1" spc="-211">
                <a:solidFill>
                  <a:srgbClr val="FFC700"/>
                </a:solidFill>
                <a:latin typeface="Roca One Heavy" panose="00000A00000000000000"/>
                <a:ea typeface="Roca One Heavy" panose="00000A00000000000000"/>
                <a:cs typeface="Roca One Heavy" panose="00000A00000000000000"/>
                <a:sym typeface="Roca One Heavy" panose="00000A00000000000000"/>
              </a:rPr>
              <a:t>  1 .</a:t>
            </a:r>
            <a:r>
              <a:rPr lang="en-US" sz="3115" b="1" spc="-211">
                <a:solidFill>
                  <a:srgbClr val="5CE1E6"/>
                </a:solidFill>
                <a:latin typeface="Roca One Heavy" panose="00000A00000000000000"/>
                <a:ea typeface="Roca One Heavy" panose="00000A00000000000000"/>
                <a:cs typeface="Roca One Heavy" panose="00000A00000000000000"/>
                <a:sym typeface="Roca One Heavy" panose="00000A00000000000000"/>
              </a:rPr>
              <a:t> Usernames and passwords</a:t>
            </a:r>
            <a:endParaRPr lang="en-US" sz="3115" b="1" spc="-211">
              <a:solidFill>
                <a:srgbClr val="5CE1E6"/>
              </a:solidFill>
              <a:latin typeface="Roca One Heavy" panose="00000A00000000000000"/>
              <a:ea typeface="Roca One Heavy" panose="00000A00000000000000"/>
              <a:cs typeface="Roca One Heavy" panose="00000A00000000000000"/>
              <a:sym typeface="Roca One Heavy" panose="00000A00000000000000"/>
            </a:endParaRPr>
          </a:p>
          <a:p>
            <a:pPr algn="l">
              <a:lnSpc>
                <a:spcPts val="4295"/>
              </a:lnSpc>
            </a:pPr>
          </a:p>
          <a:p>
            <a:pPr algn="l">
              <a:lnSpc>
                <a:spcPts val="4295"/>
              </a:lnSpc>
            </a:pPr>
            <a:r>
              <a:rPr lang="en-US" sz="3115" b="1" spc="-211">
                <a:solidFill>
                  <a:srgbClr val="FFC700"/>
                </a:solidFill>
                <a:latin typeface="Roca One Heavy" panose="00000A00000000000000"/>
                <a:ea typeface="Roca One Heavy" panose="00000A00000000000000"/>
                <a:cs typeface="Roca One Heavy" panose="00000A00000000000000"/>
                <a:sym typeface="Roca One Heavy" panose="00000A00000000000000"/>
              </a:rPr>
              <a:t>  2 . </a:t>
            </a:r>
            <a:r>
              <a:rPr lang="en-US" sz="3115" b="1" spc="-211">
                <a:solidFill>
                  <a:srgbClr val="5CE1E6"/>
                </a:solidFill>
                <a:latin typeface="Roca One Heavy" panose="00000A00000000000000"/>
                <a:ea typeface="Roca One Heavy" panose="00000A00000000000000"/>
                <a:cs typeface="Roca One Heavy" panose="00000A00000000000000"/>
                <a:sym typeface="Roca One Heavy" panose="00000A00000000000000"/>
              </a:rPr>
              <a:t>Banking details</a:t>
            </a:r>
            <a:endParaRPr lang="en-US" sz="3115" b="1" spc="-211">
              <a:solidFill>
                <a:srgbClr val="5CE1E6"/>
              </a:solidFill>
              <a:latin typeface="Roca One Heavy" panose="00000A00000000000000"/>
              <a:ea typeface="Roca One Heavy" panose="00000A00000000000000"/>
              <a:cs typeface="Roca One Heavy" panose="00000A00000000000000"/>
              <a:sym typeface="Roca One Heavy" panose="00000A00000000000000"/>
            </a:endParaRPr>
          </a:p>
          <a:p>
            <a:pPr algn="l">
              <a:lnSpc>
                <a:spcPts val="4295"/>
              </a:lnSpc>
            </a:pPr>
          </a:p>
          <a:p>
            <a:pPr algn="l">
              <a:lnSpc>
                <a:spcPts val="4295"/>
              </a:lnSpc>
            </a:pPr>
            <a:r>
              <a:rPr lang="en-US" sz="3115" b="1" spc="-211">
                <a:solidFill>
                  <a:srgbClr val="FFC700"/>
                </a:solidFill>
                <a:latin typeface="Roca One Heavy" panose="00000A00000000000000"/>
                <a:ea typeface="Roca One Heavy" panose="00000A00000000000000"/>
                <a:cs typeface="Roca One Heavy" panose="00000A00000000000000"/>
                <a:sym typeface="Roca One Heavy" panose="00000A00000000000000"/>
              </a:rPr>
              <a:t>  3 . </a:t>
            </a:r>
            <a:r>
              <a:rPr lang="en-US" sz="3115" b="1" spc="-211">
                <a:solidFill>
                  <a:srgbClr val="5CE1E6"/>
                </a:solidFill>
                <a:latin typeface="Roca One Heavy" panose="00000A00000000000000"/>
                <a:ea typeface="Roca One Heavy" panose="00000A00000000000000"/>
                <a:cs typeface="Roca One Heavy" panose="00000A00000000000000"/>
                <a:sym typeface="Roca One Heavy" panose="00000A00000000000000"/>
              </a:rPr>
              <a:t>Personal data</a:t>
            </a:r>
            <a:endParaRPr lang="en-US" sz="3115" b="1" spc="-211">
              <a:solidFill>
                <a:srgbClr val="5CE1E6"/>
              </a:solidFill>
              <a:latin typeface="Roca One Heavy" panose="00000A00000000000000"/>
              <a:ea typeface="Roca One Heavy" panose="00000A00000000000000"/>
              <a:cs typeface="Roca One Heavy" panose="00000A00000000000000"/>
              <a:sym typeface="Roca One Heavy" panose="00000A00000000000000"/>
            </a:endParaRPr>
          </a:p>
          <a:p>
            <a:pPr algn="l">
              <a:lnSpc>
                <a:spcPts val="4295"/>
              </a:lnSpc>
            </a:pPr>
          </a:p>
          <a:p>
            <a:pPr marL="0" lvl="0" indent="0" algn="l">
              <a:lnSpc>
                <a:spcPts val="4295"/>
              </a:lnSpc>
            </a:pPr>
            <a:r>
              <a:rPr lang="en-US" sz="3115" b="1" spc="-211">
                <a:solidFill>
                  <a:srgbClr val="5CE1E6"/>
                </a:solidFill>
                <a:latin typeface="Roca One Heavy" panose="00000A00000000000000"/>
                <a:ea typeface="Roca One Heavy" panose="00000A00000000000000"/>
                <a:cs typeface="Roca One Heavy" panose="00000A00000000000000"/>
                <a:sym typeface="Roca One Heavy" panose="00000A00000000000000"/>
              </a:rPr>
              <a:t>These attacks are commonly delivered through emails, messages, or  fake websites.</a:t>
            </a:r>
            <a:endParaRPr lang="en-US" sz="3115" b="1" spc="-211">
              <a:solidFill>
                <a:srgbClr val="5CE1E6"/>
              </a:solidFill>
              <a:latin typeface="Roca One Heavy" panose="00000A00000000000000"/>
              <a:ea typeface="Roca One Heavy" panose="00000A00000000000000"/>
              <a:cs typeface="Roca One Heavy" panose="00000A00000000000000"/>
              <a:sym typeface="Roca One Heavy" panose="00000A0000000000000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700261" y="-15109961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390931" y="-1580562"/>
            <a:ext cx="23235874" cy="21039028"/>
          </a:xfrm>
          <a:custGeom>
            <a:avLst/>
            <a:gdLst/>
            <a:ahLst/>
            <a:cxnLst/>
            <a:rect l="l" t="t" r="r" b="b"/>
            <a:pathLst>
              <a:path w="23235874" h="21039028">
                <a:moveTo>
                  <a:pt x="0" y="0"/>
                </a:moveTo>
                <a:lnTo>
                  <a:pt x="23235873" y="0"/>
                </a:lnTo>
                <a:lnTo>
                  <a:pt x="23235873" y="21039028"/>
                </a:lnTo>
                <a:lnTo>
                  <a:pt x="0" y="2103902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2475314">
            <a:off x="6657443" y="765514"/>
            <a:ext cx="727397" cy="526371"/>
          </a:xfrm>
          <a:custGeom>
            <a:avLst/>
            <a:gdLst/>
            <a:ahLst/>
            <a:cxnLst/>
            <a:rect l="l" t="t" r="r" b="b"/>
            <a:pathLst>
              <a:path w="727397" h="526371">
                <a:moveTo>
                  <a:pt x="0" y="0"/>
                </a:moveTo>
                <a:lnTo>
                  <a:pt x="727397" y="0"/>
                </a:lnTo>
                <a:lnTo>
                  <a:pt x="727397" y="526372"/>
                </a:lnTo>
                <a:lnTo>
                  <a:pt x="0" y="52637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 rot="0">
            <a:off x="649384" y="2765456"/>
            <a:ext cx="3835914" cy="3835914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104775"/>
              <a:ext cx="660400" cy="631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80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8" name="Group 8"/>
          <p:cNvGrpSpPr/>
          <p:nvPr/>
        </p:nvGrpSpPr>
        <p:grpSpPr>
          <a:xfrm rot="0">
            <a:off x="3631307" y="6577881"/>
            <a:ext cx="2942865" cy="294286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B131B"/>
            </a:solidFill>
            <a:ln w="19050" cap="sq">
              <a:solidFill>
                <a:srgbClr val="E7F2FA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104775"/>
              <a:ext cx="660400" cy="631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800"/>
                </a:lnSpc>
              </a:pPr>
            </a:p>
          </p:txBody>
        </p:sp>
      </p:grpSp>
      <p:grpSp>
        <p:nvGrpSpPr>
          <p:cNvPr id="11" name="Group 11"/>
          <p:cNvGrpSpPr/>
          <p:nvPr/>
        </p:nvGrpSpPr>
        <p:grpSpPr>
          <a:xfrm rot="0">
            <a:off x="7468111" y="4411980"/>
            <a:ext cx="4526972" cy="4526972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104775"/>
              <a:ext cx="660400" cy="631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80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4" name="Group 14"/>
          <p:cNvGrpSpPr/>
          <p:nvPr/>
        </p:nvGrpSpPr>
        <p:grpSpPr>
          <a:xfrm rot="0">
            <a:off x="13777181" y="2210157"/>
            <a:ext cx="2924594" cy="2924594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B131B"/>
            </a:solidFill>
            <a:ln w="38100" cap="sq">
              <a:solidFill>
                <a:srgbClr val="E7F2FA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104775"/>
              <a:ext cx="660400" cy="631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1800"/>
                </a:lnSpc>
              </a:pP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603227" y="2314932"/>
            <a:ext cx="8269654" cy="14884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25"/>
              </a:lnSpc>
            </a:pPr>
            <a:r>
              <a:rPr lang="en-US" sz="5725" spc="-314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TYPES OF PHISHING</a:t>
            </a:r>
            <a:endParaRPr lang="en-US" sz="5725" spc="-314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ctr">
              <a:lnSpc>
                <a:spcPts val="5725"/>
              </a:lnSpc>
            </a:pPr>
          </a:p>
        </p:txBody>
      </p:sp>
      <p:sp>
        <p:nvSpPr>
          <p:cNvPr id="18" name="TextBox 18"/>
          <p:cNvSpPr txBox="1"/>
          <p:nvPr/>
        </p:nvSpPr>
        <p:spPr>
          <a:xfrm>
            <a:off x="7230519" y="1095375"/>
            <a:ext cx="3164813" cy="826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95"/>
              </a:lnSpc>
            </a:pPr>
            <a:r>
              <a:rPr lang="en-US" sz="3195" b="1" spc="-175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🎭 SLIDE : 4 </a:t>
            </a:r>
            <a:endParaRPr lang="en-US" sz="3195" b="1" spc="-175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  <a:p>
            <a:pPr marL="0" lvl="0" indent="0" algn="l">
              <a:lnSpc>
                <a:spcPts val="3195"/>
              </a:lnSpc>
            </a:pPr>
          </a:p>
        </p:txBody>
      </p:sp>
      <p:sp>
        <p:nvSpPr>
          <p:cNvPr id="19" name="TextBox 19"/>
          <p:cNvSpPr txBox="1"/>
          <p:nvPr/>
        </p:nvSpPr>
        <p:spPr>
          <a:xfrm>
            <a:off x="956048" y="4213113"/>
            <a:ext cx="3647179" cy="921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lang="en-US" sz="2400" b="1" i="1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  1. </a:t>
            </a:r>
            <a:r>
              <a:rPr lang="en-US" sz="2400" b="1" i="1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EMAIL PHISHING: MASS FRAUDULENT EMAILS</a:t>
            </a:r>
            <a:endParaRPr lang="en-US" sz="2400" b="1" i="1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3822045" y="7690038"/>
            <a:ext cx="2752127" cy="747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15"/>
              </a:lnSpc>
            </a:pPr>
            <a:r>
              <a:rPr lang="en-US" sz="1915" b="1" i="1" spc="-105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  </a:t>
            </a:r>
            <a:r>
              <a:rPr lang="en-US" sz="1915" b="1" i="1" spc="-105">
                <a:solidFill>
                  <a:srgbClr val="FFF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2.</a:t>
            </a:r>
            <a:r>
              <a:rPr lang="en-US" sz="1915" b="1" i="1" spc="-105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 SPEAR PHISHING: TARGETED ATTACKS ON INDIVIDUALS</a:t>
            </a:r>
            <a:endParaRPr lang="en-US" sz="1915" b="1" i="1" spc="-105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7610332" y="6207350"/>
            <a:ext cx="4902301" cy="993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490" b="1" i="1" spc="-136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   </a:t>
            </a:r>
            <a:r>
              <a:rPr lang="en-US" sz="2490" b="1" i="1" spc="-136">
                <a:solidFill>
                  <a:srgbClr val="FFF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3. </a:t>
            </a:r>
            <a:r>
              <a:rPr lang="en-US" sz="2490" b="1" i="1" spc="-136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Whaling:</a:t>
            </a:r>
            <a:r>
              <a:rPr lang="en-US" sz="2490" b="1" i="1" spc="-136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Attacks on executives or high-level staff</a:t>
            </a:r>
            <a:endParaRPr lang="en-US" sz="2490" b="1" i="1" spc="-136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2800"/>
              </a:lnSpc>
            </a:pPr>
          </a:p>
        </p:txBody>
      </p:sp>
      <p:sp>
        <p:nvSpPr>
          <p:cNvPr id="22" name="TextBox 22"/>
          <p:cNvSpPr txBox="1"/>
          <p:nvPr/>
        </p:nvSpPr>
        <p:spPr>
          <a:xfrm>
            <a:off x="13777181" y="3329739"/>
            <a:ext cx="2924594" cy="1032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15"/>
              </a:lnSpc>
            </a:pPr>
            <a:r>
              <a:rPr lang="en-US" sz="2015" b="1" i="1" spc="-110">
                <a:solidFill>
                  <a:srgbClr val="E7F2FA"/>
                </a:solidFill>
                <a:latin typeface="Montserrat Semi-Bold Italics" panose="00000700000000000000"/>
                <a:ea typeface="Montserrat Semi-Bold Italics" panose="00000700000000000000"/>
                <a:cs typeface="Montserrat Semi-Bold Italics" panose="00000700000000000000"/>
                <a:sym typeface="Montserrat Semi-Bold Italics" panose="00000700000000000000"/>
              </a:rPr>
              <a:t> 4. </a:t>
            </a:r>
            <a:r>
              <a:rPr lang="en-US" sz="2015" b="1" i="1" spc="-110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Smishing:</a:t>
            </a:r>
            <a:r>
              <a:rPr lang="en-US" sz="2015" b="1" i="1" spc="-110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Phishing via SMS</a:t>
            </a:r>
            <a:endParaRPr lang="en-US" sz="2015" b="1" i="1" spc="-110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2015"/>
              </a:lnSpc>
            </a:pPr>
          </a:p>
          <a:p>
            <a:pPr marL="0" lvl="0" indent="0" algn="ctr">
              <a:lnSpc>
                <a:spcPts val="2015"/>
              </a:lnSpc>
            </a:pPr>
          </a:p>
        </p:txBody>
      </p:sp>
      <p:grpSp>
        <p:nvGrpSpPr>
          <p:cNvPr id="23" name="Group 23"/>
          <p:cNvGrpSpPr/>
          <p:nvPr/>
        </p:nvGrpSpPr>
        <p:grpSpPr>
          <a:xfrm rot="0">
            <a:off x="13110919" y="5948822"/>
            <a:ext cx="3590855" cy="3309478"/>
            <a:chOff x="0" y="0"/>
            <a:chExt cx="629816" cy="58046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29816" cy="580464"/>
            </a:xfrm>
            <a:custGeom>
              <a:avLst/>
              <a:gdLst/>
              <a:ahLst/>
              <a:cxnLst/>
              <a:rect l="l" t="t" r="r" b="b"/>
              <a:pathLst>
                <a:path w="629816" h="580464">
                  <a:moveTo>
                    <a:pt x="314908" y="0"/>
                  </a:moveTo>
                  <a:cubicBezTo>
                    <a:pt x="140989" y="0"/>
                    <a:pt x="0" y="129941"/>
                    <a:pt x="0" y="290232"/>
                  </a:cubicBezTo>
                  <a:cubicBezTo>
                    <a:pt x="0" y="450523"/>
                    <a:pt x="140989" y="580464"/>
                    <a:pt x="314908" y="580464"/>
                  </a:cubicBezTo>
                  <a:cubicBezTo>
                    <a:pt x="488827" y="580464"/>
                    <a:pt x="629816" y="450523"/>
                    <a:pt x="629816" y="290232"/>
                  </a:cubicBezTo>
                  <a:cubicBezTo>
                    <a:pt x="629816" y="129941"/>
                    <a:pt x="488827" y="0"/>
                    <a:pt x="31490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sq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045" y="102043"/>
              <a:ext cx="511725" cy="4240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10"/>
                </a:lnSpc>
                <a:spcBef>
                  <a:spcPct val="0"/>
                </a:spcBef>
              </a:pP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3239161" y="7248356"/>
            <a:ext cx="3462614" cy="8544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0"/>
              </a:lnSpc>
            </a:pPr>
            <a:r>
              <a:rPr lang="en-US" sz="2290" i="1" spc="-126">
                <a:solidFill>
                  <a:srgbClr val="FFFFFF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    </a:t>
            </a:r>
            <a:r>
              <a:rPr lang="en-US" sz="2290" b="1" i="1" spc="-126">
                <a:solidFill>
                  <a:srgbClr val="FFF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5 </a:t>
            </a:r>
            <a:r>
              <a:rPr lang="en-US" sz="2290" i="1" spc="-126">
                <a:solidFill>
                  <a:srgbClr val="FFFFFF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. </a:t>
            </a:r>
            <a:r>
              <a:rPr lang="en-US" sz="2290" b="1" i="1" spc="-126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VISHING: PHISHING   VIA  PHONE CALLS</a:t>
            </a:r>
            <a:endParaRPr lang="en-US" sz="2290" b="1" i="1" spc="-126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l">
              <a:lnSpc>
                <a:spcPts val="2290"/>
              </a:lnSpc>
            </a:pPr>
            <a:r>
              <a:rPr lang="en-US" sz="2290" b="1" i="1" spc="-126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</a:t>
            </a:r>
            <a:endParaRPr lang="en-US" sz="2290" b="1" i="1" spc="-126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475314">
            <a:off x="1023815" y="762784"/>
            <a:ext cx="819905" cy="593313"/>
          </a:xfrm>
          <a:custGeom>
            <a:avLst/>
            <a:gdLst/>
            <a:ahLst/>
            <a:cxnLst/>
            <a:rect l="l" t="t" r="r" b="b"/>
            <a:pathLst>
              <a:path w="819905" h="593313">
                <a:moveTo>
                  <a:pt x="0" y="0"/>
                </a:moveTo>
                <a:lnTo>
                  <a:pt x="819905" y="0"/>
                </a:lnTo>
                <a:lnTo>
                  <a:pt x="819905" y="593313"/>
                </a:lnTo>
                <a:lnTo>
                  <a:pt x="0" y="593313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3909884" flipH="1">
            <a:off x="12613941" y="164385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3"/>
                </a:lnTo>
                <a:lnTo>
                  <a:pt x="14319658" y="14625633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3">
              <a:alphaModFix amt="32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3019291" y="2253933"/>
            <a:ext cx="6358575" cy="635857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3832" y="0"/>
                  </a:moveTo>
                  <a:lnTo>
                    <a:pt x="768968" y="0"/>
                  </a:lnTo>
                  <a:cubicBezTo>
                    <a:pt x="793176" y="0"/>
                    <a:pt x="812800" y="19624"/>
                    <a:pt x="812800" y="43832"/>
                  </a:cubicBezTo>
                  <a:lnTo>
                    <a:pt x="812800" y="768968"/>
                  </a:lnTo>
                  <a:cubicBezTo>
                    <a:pt x="812800" y="793176"/>
                    <a:pt x="793176" y="812800"/>
                    <a:pt x="768968" y="812800"/>
                  </a:cubicBezTo>
                  <a:lnTo>
                    <a:pt x="43832" y="812800"/>
                  </a:lnTo>
                  <a:cubicBezTo>
                    <a:pt x="19624" y="812800"/>
                    <a:pt x="0" y="793176"/>
                    <a:pt x="0" y="768968"/>
                  </a:cubicBezTo>
                  <a:lnTo>
                    <a:pt x="0" y="43832"/>
                  </a:lnTo>
                  <a:cubicBezTo>
                    <a:pt x="0" y="19624"/>
                    <a:pt x="19624" y="0"/>
                    <a:pt x="43832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w="38100" cap="rnd">
              <a:solidFill>
                <a:srgbClr val="E7F2FA"/>
              </a:solidFill>
              <a:prstDash val="solid"/>
              <a:round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046033" y="680391"/>
            <a:ext cx="8155023" cy="21418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75"/>
              </a:lnSpc>
            </a:pPr>
            <a:r>
              <a:rPr lang="en-US" sz="5575" spc="-306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SOCIAL  ENGINEERING   TECHNIQUES</a:t>
            </a:r>
            <a:endParaRPr lang="en-US" sz="5575" spc="-306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l">
              <a:lnSpc>
                <a:spcPts val="5575"/>
              </a:lnSpc>
            </a:pPr>
          </a:p>
        </p:txBody>
      </p:sp>
      <p:sp>
        <p:nvSpPr>
          <p:cNvPr id="7" name="TextBox 7"/>
          <p:cNvSpPr txBox="1"/>
          <p:nvPr/>
        </p:nvSpPr>
        <p:spPr>
          <a:xfrm>
            <a:off x="1534714" y="1085850"/>
            <a:ext cx="2969155" cy="8242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00"/>
              </a:lnSpc>
            </a:pPr>
            <a:r>
              <a:rPr lang="en-US" sz="3200" b="1" spc="-176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🧨 SLIDE : 5 </a:t>
            </a:r>
            <a:endParaRPr lang="en-US" sz="3200" b="1" spc="-176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  <a:p>
            <a:pPr marL="0" lvl="0" indent="0" algn="l">
              <a:lnSpc>
                <a:spcPts val="3200"/>
              </a:lnSpc>
            </a:pPr>
          </a:p>
        </p:txBody>
      </p:sp>
      <p:sp>
        <p:nvSpPr>
          <p:cNvPr id="8" name="TextBox 8"/>
          <p:cNvSpPr txBox="1"/>
          <p:nvPr/>
        </p:nvSpPr>
        <p:spPr>
          <a:xfrm>
            <a:off x="10751529" y="2900575"/>
            <a:ext cx="7658212" cy="45766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205"/>
              </a:lnSpc>
            </a:pPr>
          </a:p>
          <a:p>
            <a:pPr algn="l">
              <a:lnSpc>
                <a:spcPts val="6205"/>
              </a:lnSpc>
            </a:pPr>
            <a:r>
              <a:rPr lang="en-US" sz="4495" b="1" i="1" u="sng" spc="-305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ATTACKERS MANIPULATE HUMAN BEHAVIOR USING</a:t>
            </a:r>
            <a:endParaRPr lang="en-US" sz="4495" b="1" i="1" u="sng" spc="-305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561340" lvl="1" indent="-280670" algn="l">
              <a:lnSpc>
                <a:spcPts val="3590"/>
              </a:lnSpc>
              <a:buFont typeface="Arial" panose="020B0604020202020204"/>
              <a:buChar char="•"/>
            </a:pPr>
            <a:r>
              <a:rPr lang="en-US" sz="2600" b="1" spc="-176">
                <a:gradFill>
                  <a:gsLst>
                    <a:gs pos="0">
                      <a:srgbClr val="F7DFFF">
                        <a:alpha val="100000"/>
                      </a:srgbClr>
                    </a:gs>
                    <a:gs pos="50000">
                      <a:srgbClr val="FFFFFF">
                        <a:alpha val="100000"/>
                      </a:srgbClr>
                    </a:gs>
                    <a:gs pos="100000">
                      <a:srgbClr val="87EFFF">
                        <a:alpha val="100000"/>
                      </a:srgbClr>
                    </a:gs>
                  </a:gsLst>
                  <a:lin ang="2700000"/>
                </a:gra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Urgency</a:t>
            </a:r>
            <a:r>
              <a:rPr lang="en-US" sz="2600" b="1" spc="-176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 :</a:t>
            </a:r>
            <a:r>
              <a:rPr lang="en-US" sz="2600" spc="-176">
                <a:solidFill>
                  <a:srgbClr val="E7F2FA"/>
                </a:solidFill>
                <a:latin typeface="Montserrat" panose="00000500000000000000"/>
                <a:ea typeface="Montserrat" panose="00000500000000000000"/>
                <a:cs typeface="Montserrat" panose="00000500000000000000"/>
                <a:sym typeface="Montserrat" panose="00000500000000000000"/>
              </a:rPr>
              <a:t> Immediate action required</a:t>
            </a:r>
            <a:endParaRPr lang="en-US" sz="2600" spc="-176">
              <a:solidFill>
                <a:srgbClr val="E7F2FA"/>
              </a:solidFill>
              <a:latin typeface="Montserrat" panose="00000500000000000000"/>
              <a:ea typeface="Montserrat" panose="00000500000000000000"/>
              <a:cs typeface="Montserrat" panose="00000500000000000000"/>
              <a:sym typeface="Montserrat" panose="00000500000000000000"/>
            </a:endParaRPr>
          </a:p>
          <a:p>
            <a:pPr marL="561340" lvl="1" indent="-280670" algn="l">
              <a:lnSpc>
                <a:spcPts val="3590"/>
              </a:lnSpc>
              <a:buFont typeface="Arial" panose="020B0604020202020204"/>
              <a:buChar char="•"/>
            </a:pPr>
            <a:r>
              <a:rPr lang="en-US" sz="2600" b="1" spc="-176">
                <a:solidFill>
                  <a:srgbClr val="E9EFFF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Fear</a:t>
            </a:r>
            <a:r>
              <a:rPr lang="en-US" sz="2600" b="1" spc="-176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 :</a:t>
            </a:r>
            <a:r>
              <a:rPr lang="en-US" sz="2600" spc="-176">
                <a:solidFill>
                  <a:srgbClr val="E7F2FA"/>
                </a:solidFill>
                <a:latin typeface="Montserrat" panose="00000500000000000000"/>
                <a:ea typeface="Montserrat" panose="00000500000000000000"/>
                <a:cs typeface="Montserrat" panose="00000500000000000000"/>
                <a:sym typeface="Montserrat" panose="00000500000000000000"/>
              </a:rPr>
              <a:t> Your account will be locked</a:t>
            </a:r>
            <a:endParaRPr lang="en-US" sz="2600" spc="-176">
              <a:solidFill>
                <a:srgbClr val="E7F2FA"/>
              </a:solidFill>
              <a:latin typeface="Montserrat" panose="00000500000000000000"/>
              <a:ea typeface="Montserrat" panose="00000500000000000000"/>
              <a:cs typeface="Montserrat" panose="00000500000000000000"/>
              <a:sym typeface="Montserrat" panose="00000500000000000000"/>
            </a:endParaRPr>
          </a:p>
          <a:p>
            <a:pPr marL="561340" lvl="1" indent="-280670" algn="l">
              <a:lnSpc>
                <a:spcPts val="3590"/>
              </a:lnSpc>
              <a:buFont typeface="Arial" panose="020B0604020202020204"/>
              <a:buChar char="•"/>
            </a:pPr>
            <a:r>
              <a:rPr lang="en-US" sz="2600" b="1" spc="-176">
                <a:solidFill>
                  <a:srgbClr val="E9EFFF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Authority</a:t>
            </a:r>
            <a:r>
              <a:rPr lang="en-US" sz="2600" b="1" spc="-176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 :</a:t>
            </a:r>
            <a:r>
              <a:rPr lang="en-US" sz="2600" spc="-176">
                <a:solidFill>
                  <a:srgbClr val="E7F2FA"/>
                </a:solidFill>
                <a:latin typeface="Montserrat" panose="00000500000000000000"/>
                <a:ea typeface="Montserrat" panose="00000500000000000000"/>
                <a:cs typeface="Montserrat" panose="00000500000000000000"/>
                <a:sym typeface="Montserrat" panose="00000500000000000000"/>
              </a:rPr>
              <a:t> Impersonating banks or officials</a:t>
            </a:r>
            <a:endParaRPr lang="en-US" sz="2600" spc="-176">
              <a:solidFill>
                <a:srgbClr val="E7F2FA"/>
              </a:solidFill>
              <a:latin typeface="Montserrat" panose="00000500000000000000"/>
              <a:ea typeface="Montserrat" panose="00000500000000000000"/>
              <a:cs typeface="Montserrat" panose="00000500000000000000"/>
              <a:sym typeface="Montserrat" panose="00000500000000000000"/>
            </a:endParaRPr>
          </a:p>
          <a:p>
            <a:pPr marL="561340" lvl="1" indent="-280670" algn="l">
              <a:lnSpc>
                <a:spcPts val="3590"/>
              </a:lnSpc>
              <a:buFont typeface="Arial" panose="020B0604020202020204"/>
              <a:buChar char="•"/>
            </a:pPr>
            <a:r>
              <a:rPr lang="en-US" sz="2600" b="1" spc="-176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Incentives :</a:t>
            </a:r>
            <a:r>
              <a:rPr lang="en-US" sz="2600" spc="-176">
                <a:solidFill>
                  <a:srgbClr val="E7F2FA"/>
                </a:solidFill>
                <a:latin typeface="Montserrat" panose="00000500000000000000"/>
                <a:ea typeface="Montserrat" panose="00000500000000000000"/>
                <a:cs typeface="Montserrat" panose="00000500000000000000"/>
                <a:sym typeface="Montserrat" panose="00000500000000000000"/>
              </a:rPr>
              <a:t> Fake rewards or offers</a:t>
            </a:r>
            <a:endParaRPr lang="en-US" sz="2600" spc="-176">
              <a:solidFill>
                <a:srgbClr val="E7F2FA"/>
              </a:solidFill>
              <a:latin typeface="Montserrat" panose="00000500000000000000"/>
              <a:ea typeface="Montserrat" panose="00000500000000000000"/>
              <a:cs typeface="Montserrat" panose="00000500000000000000"/>
              <a:sym typeface="Montserrat" panose="00000500000000000000"/>
            </a:endParaRPr>
          </a:p>
          <a:p>
            <a:pPr marL="0" lvl="0" indent="0" algn="l">
              <a:lnSpc>
                <a:spcPts val="3590"/>
              </a:lnSpc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475314">
            <a:off x="1019374" y="750984"/>
            <a:ext cx="832151" cy="602175"/>
          </a:xfrm>
          <a:custGeom>
            <a:avLst/>
            <a:gdLst/>
            <a:ahLst/>
            <a:cxnLst/>
            <a:rect l="l" t="t" r="r" b="b"/>
            <a:pathLst>
              <a:path w="832151" h="602175">
                <a:moveTo>
                  <a:pt x="0" y="0"/>
                </a:moveTo>
                <a:lnTo>
                  <a:pt x="832151" y="0"/>
                </a:lnTo>
                <a:lnTo>
                  <a:pt x="832151" y="602175"/>
                </a:lnTo>
                <a:lnTo>
                  <a:pt x="0" y="602175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3909884" flipH="1">
            <a:off x="5503188" y="-58807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7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7" y="14625634"/>
                </a:lnTo>
                <a:lnTo>
                  <a:pt x="14319657" y="0"/>
                </a:lnTo>
                <a:close/>
              </a:path>
            </a:pathLst>
          </a:custGeom>
          <a:blipFill>
            <a:blip r:embed="rId3">
              <a:alphaModFix amt="32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3019291" y="2253933"/>
            <a:ext cx="6358575" cy="635857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 rot="48000">
              <a:off x="-5027" y="-5027"/>
              <a:ext cx="822854" cy="822854"/>
            </a:xfrm>
            <a:custGeom>
              <a:avLst/>
              <a:gdLst/>
              <a:ahLst/>
              <a:cxnLst/>
              <a:rect l="l" t="t" r="r" b="b"/>
              <a:pathLst>
                <a:path w="822854" h="822854">
                  <a:moveTo>
                    <a:pt x="43220" y="10129"/>
                  </a:moveTo>
                  <a:lnTo>
                    <a:pt x="768285" y="4"/>
                  </a:lnTo>
                  <a:cubicBezTo>
                    <a:pt x="792491" y="-334"/>
                    <a:pt x="812387" y="19015"/>
                    <a:pt x="812725" y="43220"/>
                  </a:cubicBezTo>
                  <a:lnTo>
                    <a:pt x="822850" y="768285"/>
                  </a:lnTo>
                  <a:cubicBezTo>
                    <a:pt x="823188" y="792491"/>
                    <a:pt x="803839" y="812387"/>
                    <a:pt x="779634" y="812725"/>
                  </a:cubicBezTo>
                  <a:lnTo>
                    <a:pt x="54569" y="822850"/>
                  </a:lnTo>
                  <a:cubicBezTo>
                    <a:pt x="30363" y="823188"/>
                    <a:pt x="10467" y="803839"/>
                    <a:pt x="10129" y="779634"/>
                  </a:cubicBezTo>
                  <a:lnTo>
                    <a:pt x="4" y="54569"/>
                  </a:lnTo>
                  <a:cubicBezTo>
                    <a:pt x="-334" y="30363"/>
                    <a:pt x="19015" y="10467"/>
                    <a:pt x="43220" y="10129"/>
                  </a:cubicBezTo>
                  <a:close/>
                </a:path>
              </a:pathLst>
            </a:custGeom>
            <a:blipFill>
              <a:blip r:embed="rId5"/>
              <a:stretch>
                <a:fillRect l="-54200" t="-15963" r="-19194" b="-57431"/>
              </a:stretch>
            </a:blipFill>
            <a:ln w="38100" cap="rnd">
              <a:solidFill>
                <a:srgbClr val="E7F2FA"/>
              </a:solidFill>
              <a:prstDash val="solid"/>
              <a:round/>
            </a:ln>
          </p:spPr>
        </p:sp>
      </p:grpSp>
      <p:sp>
        <p:nvSpPr>
          <p:cNvPr id="6" name="TextBox 6"/>
          <p:cNvSpPr txBox="1"/>
          <p:nvPr/>
        </p:nvSpPr>
        <p:spPr>
          <a:xfrm>
            <a:off x="11312245" y="1205912"/>
            <a:ext cx="6975755" cy="22008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lang="en-US" sz="5720" spc="-314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 Identifying Phishing Emails</a:t>
            </a:r>
            <a:endParaRPr lang="en-US" sz="5720" spc="-314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l">
              <a:lnSpc>
                <a:spcPts val="5720"/>
              </a:lnSpc>
            </a:pPr>
          </a:p>
        </p:txBody>
      </p:sp>
      <p:sp>
        <p:nvSpPr>
          <p:cNvPr id="7" name="TextBox 7"/>
          <p:cNvSpPr txBox="1"/>
          <p:nvPr/>
        </p:nvSpPr>
        <p:spPr>
          <a:xfrm>
            <a:off x="1712847" y="1085850"/>
            <a:ext cx="2969155" cy="424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</a:pPr>
            <a:r>
              <a:rPr lang="en-US" sz="3200" b="1" spc="-176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📧 SLIDE : 6</a:t>
            </a:r>
            <a:endParaRPr lang="en-US" sz="3200" b="1" spc="-176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3308" y="3659255"/>
            <a:ext cx="8004692" cy="2586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5"/>
              </a:lnSpc>
            </a:pPr>
            <a:r>
              <a:rPr lang="en-US" sz="3190" b="1" i="1" spc="-216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BE CAUTIOUS OF EMAILS THAT CONTAIN:</a:t>
            </a:r>
            <a:endParaRPr lang="en-US" sz="3190" b="1" i="1" spc="-216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511810" lvl="1" indent="-255905" algn="l">
              <a:lnSpc>
                <a:spcPts val="3270"/>
              </a:lnSpc>
              <a:buFont typeface="Arial" panose="020B0604020202020204"/>
              <a:buChar char="•"/>
            </a:pPr>
            <a:r>
              <a:rPr lang="en-US" sz="2370" b="1" i="1" spc="-161">
                <a:gradFill>
                  <a:gsLst>
                    <a:gs pos="0">
                      <a:srgbClr val="F7DFFF">
                        <a:alpha val="100000"/>
                      </a:srgbClr>
                    </a:gs>
                    <a:gs pos="50000">
                      <a:srgbClr val="FFFFFF">
                        <a:alpha val="100000"/>
                      </a:srgbClr>
                    </a:gs>
                    <a:gs pos="100000">
                      <a:srgbClr val="87EFFF">
                        <a:alpha val="100000"/>
                      </a:srgbClr>
                    </a:gs>
                  </a:gsLst>
                  <a:lin ang="2700000"/>
                </a:gra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Unfamiliar or suspicious sender addresses</a:t>
            </a:r>
            <a:endParaRPr lang="en-US" sz="2370" b="1" i="1" spc="-161">
              <a:gradFill>
                <a:gsLst>
                  <a:gs pos="0">
                    <a:srgbClr val="F7DF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87EFFF">
                      <a:alpha val="100000"/>
                    </a:srgbClr>
                  </a:gs>
                </a:gsLst>
                <a:lin ang="2700000"/>
              </a:gra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511810" lvl="1" indent="-255905" algn="l">
              <a:lnSpc>
                <a:spcPts val="3270"/>
              </a:lnSpc>
              <a:buFont typeface="Arial" panose="020B0604020202020204"/>
              <a:buChar char="•"/>
            </a:pPr>
            <a:r>
              <a:rPr lang="en-US" sz="2370" b="1" i="1" spc="-161">
                <a:gradFill>
                  <a:gsLst>
                    <a:gs pos="0">
                      <a:srgbClr val="F7DFFF">
                        <a:alpha val="100000"/>
                      </a:srgbClr>
                    </a:gs>
                    <a:gs pos="50000">
                      <a:srgbClr val="FFFFFF">
                        <a:alpha val="100000"/>
                      </a:srgbClr>
                    </a:gs>
                    <a:gs pos="100000">
                      <a:srgbClr val="87EFFF">
                        <a:alpha val="100000"/>
                      </a:srgbClr>
                    </a:gs>
                  </a:gsLst>
                  <a:lin ang="2700000"/>
                </a:gra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Spelling or grammatical errors</a:t>
            </a:r>
            <a:endParaRPr lang="en-US" sz="2370" b="1" i="1" spc="-161">
              <a:gradFill>
                <a:gsLst>
                  <a:gs pos="0">
                    <a:srgbClr val="F7DF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87EFFF">
                      <a:alpha val="100000"/>
                    </a:srgbClr>
                  </a:gs>
                </a:gsLst>
                <a:lin ang="2700000"/>
              </a:gra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511810" lvl="1" indent="-255905" algn="l">
              <a:lnSpc>
                <a:spcPts val="3270"/>
              </a:lnSpc>
              <a:buFont typeface="Arial" panose="020B0604020202020204"/>
              <a:buChar char="•"/>
            </a:pPr>
            <a:r>
              <a:rPr lang="en-US" sz="2370" b="1" i="1" spc="-161">
                <a:gradFill>
                  <a:gsLst>
                    <a:gs pos="0">
                      <a:srgbClr val="F7DFFF">
                        <a:alpha val="100000"/>
                      </a:srgbClr>
                    </a:gs>
                    <a:gs pos="50000">
                      <a:srgbClr val="FFFFFF">
                        <a:alpha val="100000"/>
                      </a:srgbClr>
                    </a:gs>
                    <a:gs pos="100000">
                      <a:srgbClr val="87EFFF">
                        <a:alpha val="100000"/>
                      </a:srgbClr>
                    </a:gs>
                  </a:gsLst>
                  <a:lin ang="2700000"/>
                </a:gra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Urgent or threatening language</a:t>
            </a:r>
            <a:endParaRPr lang="en-US" sz="2370" b="1" i="1" spc="-161">
              <a:gradFill>
                <a:gsLst>
                  <a:gs pos="0">
                    <a:srgbClr val="F7DF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87EFFF">
                      <a:alpha val="100000"/>
                    </a:srgbClr>
                  </a:gs>
                </a:gsLst>
                <a:lin ang="2700000"/>
              </a:gra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511810" lvl="1" indent="-255905" algn="l">
              <a:lnSpc>
                <a:spcPts val="3270"/>
              </a:lnSpc>
              <a:buFont typeface="Arial" panose="020B0604020202020204"/>
              <a:buChar char="•"/>
            </a:pPr>
            <a:r>
              <a:rPr lang="en-US" sz="2370" b="1" i="1" spc="-161">
                <a:gradFill>
                  <a:gsLst>
                    <a:gs pos="0">
                      <a:srgbClr val="F7DFFF">
                        <a:alpha val="100000"/>
                      </a:srgbClr>
                    </a:gs>
                    <a:gs pos="50000">
                      <a:srgbClr val="FFFFFF">
                        <a:alpha val="100000"/>
                      </a:srgbClr>
                    </a:gs>
                    <a:gs pos="100000">
                      <a:srgbClr val="87EFFF">
                        <a:alpha val="100000"/>
                      </a:srgbClr>
                    </a:gs>
                  </a:gsLst>
                  <a:lin ang="2700000"/>
                </a:gra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Unexpected attachments or links</a:t>
            </a:r>
            <a:endParaRPr lang="en-US" sz="2370" b="1" i="1" spc="-161">
              <a:gradFill>
                <a:gsLst>
                  <a:gs pos="0">
                    <a:srgbClr val="F7DF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87EFFF">
                      <a:alpha val="100000"/>
                    </a:srgbClr>
                  </a:gs>
                </a:gsLst>
                <a:lin ang="2700000"/>
              </a:gra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l">
              <a:lnSpc>
                <a:spcPts val="3270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475314">
            <a:off x="1018510" y="748690"/>
            <a:ext cx="834532" cy="603898"/>
          </a:xfrm>
          <a:custGeom>
            <a:avLst/>
            <a:gdLst/>
            <a:ahLst/>
            <a:cxnLst/>
            <a:rect l="l" t="t" r="r" b="b"/>
            <a:pathLst>
              <a:path w="834532" h="603898">
                <a:moveTo>
                  <a:pt x="0" y="0"/>
                </a:moveTo>
                <a:lnTo>
                  <a:pt x="834532" y="0"/>
                </a:lnTo>
                <a:lnTo>
                  <a:pt x="834532" y="603898"/>
                </a:lnTo>
                <a:lnTo>
                  <a:pt x="0" y="603898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3909884" flipH="1">
            <a:off x="-351451" y="-2513912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3"/>
                </a:lnTo>
                <a:lnTo>
                  <a:pt x="14319658" y="14625633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3">
              <a:alphaModFix amt="32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 rot="0">
            <a:off x="1895458" y="2238771"/>
            <a:ext cx="6358575" cy="6358575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3832" y="0"/>
                  </a:moveTo>
                  <a:lnTo>
                    <a:pt x="768968" y="0"/>
                  </a:lnTo>
                  <a:cubicBezTo>
                    <a:pt x="793176" y="0"/>
                    <a:pt x="812800" y="19624"/>
                    <a:pt x="812800" y="43832"/>
                  </a:cubicBezTo>
                  <a:lnTo>
                    <a:pt x="812800" y="768968"/>
                  </a:lnTo>
                  <a:cubicBezTo>
                    <a:pt x="812800" y="793176"/>
                    <a:pt x="793176" y="812800"/>
                    <a:pt x="768968" y="812800"/>
                  </a:cubicBezTo>
                  <a:lnTo>
                    <a:pt x="43832" y="812800"/>
                  </a:lnTo>
                  <a:cubicBezTo>
                    <a:pt x="19624" y="812800"/>
                    <a:pt x="0" y="793176"/>
                    <a:pt x="0" y="768968"/>
                  </a:cubicBezTo>
                  <a:lnTo>
                    <a:pt x="0" y="43832"/>
                  </a:lnTo>
                  <a:cubicBezTo>
                    <a:pt x="0" y="19624"/>
                    <a:pt x="19624" y="0"/>
                    <a:pt x="43832" y="0"/>
                  </a:cubicBezTo>
                  <a:close/>
                </a:path>
              </a:pathLst>
            </a:custGeom>
            <a:blipFill>
              <a:blip r:embed="rId5"/>
              <a:stretch>
                <a:fillRect t="-10849" r="-71797" b="-60947"/>
              </a:stretch>
            </a:blipFill>
            <a:ln w="38100" cap="rnd">
              <a:solidFill>
                <a:srgbClr val="E7F2FA"/>
              </a:solidFill>
              <a:prstDash val="solid"/>
              <a:round/>
            </a:ln>
          </p:spPr>
        </p:sp>
      </p:grpSp>
      <p:grpSp>
        <p:nvGrpSpPr>
          <p:cNvPr id="6" name="Group 6"/>
          <p:cNvGrpSpPr/>
          <p:nvPr/>
        </p:nvGrpSpPr>
        <p:grpSpPr>
          <a:xfrm rot="0">
            <a:off x="9082082" y="1409207"/>
            <a:ext cx="9052165" cy="6475654"/>
            <a:chOff x="0" y="0"/>
            <a:chExt cx="2916613" cy="208646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16613" cy="2086460"/>
            </a:xfrm>
            <a:custGeom>
              <a:avLst/>
              <a:gdLst/>
              <a:ahLst/>
              <a:cxnLst/>
              <a:rect l="l" t="t" r="r" b="b"/>
              <a:pathLst>
                <a:path w="2916613" h="2086460">
                  <a:moveTo>
                    <a:pt x="64999" y="0"/>
                  </a:moveTo>
                  <a:lnTo>
                    <a:pt x="2851614" y="0"/>
                  </a:lnTo>
                  <a:cubicBezTo>
                    <a:pt x="2887512" y="0"/>
                    <a:pt x="2916613" y="29101"/>
                    <a:pt x="2916613" y="64999"/>
                  </a:cubicBezTo>
                  <a:lnTo>
                    <a:pt x="2916613" y="2021461"/>
                  </a:lnTo>
                  <a:cubicBezTo>
                    <a:pt x="2916613" y="2057359"/>
                    <a:pt x="2887512" y="2086460"/>
                    <a:pt x="2851614" y="2086460"/>
                  </a:cubicBezTo>
                  <a:lnTo>
                    <a:pt x="64999" y="2086460"/>
                  </a:lnTo>
                  <a:cubicBezTo>
                    <a:pt x="29101" y="2086460"/>
                    <a:pt x="0" y="2057359"/>
                    <a:pt x="0" y="2021461"/>
                  </a:cubicBezTo>
                  <a:lnTo>
                    <a:pt x="0" y="64999"/>
                  </a:lnTo>
                  <a:cubicBezTo>
                    <a:pt x="0" y="29101"/>
                    <a:pt x="29101" y="0"/>
                    <a:pt x="6499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rnd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16613" cy="212456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673274" y="2018289"/>
            <a:ext cx="8614726" cy="22218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60"/>
              </a:lnSpc>
            </a:pPr>
            <a:r>
              <a:rPr lang="en-US" sz="4965" u="sng" spc="884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Identifying Fake Websites</a:t>
            </a:r>
            <a:endParaRPr lang="en-US" sz="4965" u="sng" spc="884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l">
              <a:lnSpc>
                <a:spcPts val="5860"/>
              </a:lnSpc>
            </a:pPr>
          </a:p>
        </p:txBody>
      </p:sp>
      <p:sp>
        <p:nvSpPr>
          <p:cNvPr id="10" name="TextBox 10"/>
          <p:cNvSpPr txBox="1"/>
          <p:nvPr/>
        </p:nvSpPr>
        <p:spPr>
          <a:xfrm>
            <a:off x="1591107" y="1138167"/>
            <a:ext cx="2969155" cy="414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</a:pPr>
            <a:r>
              <a:rPr lang="en-US" sz="3200" b="1" spc="-175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🌐 SLIDE 7 </a:t>
            </a:r>
            <a:endParaRPr lang="en-US" sz="3200" b="1" spc="-175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306270" y="3929813"/>
            <a:ext cx="7360650" cy="3233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10"/>
              </a:lnSpc>
            </a:pPr>
            <a:r>
              <a:rPr lang="en-US" sz="3270" b="1" i="1" spc="-222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Check for the following signs:</a:t>
            </a:r>
            <a:endParaRPr lang="en-US" sz="3270" b="1" i="1" spc="-222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705485" lvl="1" indent="-353060" algn="l">
              <a:lnSpc>
                <a:spcPts val="4510"/>
              </a:lnSpc>
              <a:buFont typeface="Arial" panose="020B0604020202020204"/>
              <a:buChar char="•"/>
            </a:pPr>
            <a:r>
              <a:rPr lang="en-US" sz="3270" b="1" i="1" spc="-222">
                <a:solidFill>
                  <a:srgbClr val="E9E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Incorrect or misspelled URLs</a:t>
            </a:r>
            <a:endParaRPr lang="en-US" sz="3270" b="1" i="1" spc="-222">
              <a:solidFill>
                <a:srgbClr val="E9EFFF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705485" lvl="1" indent="-353060" algn="l">
              <a:lnSpc>
                <a:spcPts val="4510"/>
              </a:lnSpc>
              <a:buFont typeface="Arial" panose="020B0604020202020204"/>
              <a:buChar char="•"/>
            </a:pPr>
            <a:r>
              <a:rPr lang="en-US" sz="3270" b="1" i="1" spc="-222">
                <a:solidFill>
                  <a:srgbClr val="E9E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Absence of HTTPS (🔒)</a:t>
            </a:r>
            <a:endParaRPr lang="en-US" sz="3270" b="1" i="1" spc="-222">
              <a:solidFill>
                <a:srgbClr val="E9EFFF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705485" lvl="1" indent="-353060" algn="l">
              <a:lnSpc>
                <a:spcPts val="4510"/>
              </a:lnSpc>
              <a:buFont typeface="Arial" panose="020B0604020202020204"/>
              <a:buChar char="•"/>
            </a:pPr>
            <a:r>
              <a:rPr lang="en-US" sz="3270" b="1" i="1" spc="-222">
                <a:solidFill>
                  <a:srgbClr val="E9E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Poor design or layout</a:t>
            </a:r>
            <a:endParaRPr lang="en-US" sz="3270" b="1" i="1" spc="-222">
              <a:solidFill>
                <a:srgbClr val="E9EFFF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705485" lvl="1" indent="-353060" algn="l">
              <a:lnSpc>
                <a:spcPts val="4510"/>
              </a:lnSpc>
              <a:buFont typeface="Arial" panose="020B0604020202020204"/>
              <a:buChar char="•"/>
            </a:pPr>
            <a:r>
              <a:rPr lang="en-US" sz="3270" b="1" i="1" spc="-222">
                <a:solidFill>
                  <a:srgbClr val="E9E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Requests for sensitive information</a:t>
            </a:r>
            <a:endParaRPr lang="en-US" sz="3270" b="1" i="1" spc="-222">
              <a:solidFill>
                <a:srgbClr val="E9EFFF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l">
              <a:lnSpc>
                <a:spcPts val="3005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2846507" y="1028700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343677" y="-14081261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3628336" y="1863656"/>
            <a:ext cx="10275096" cy="7204885"/>
            <a:chOff x="0" y="0"/>
            <a:chExt cx="3310643" cy="23214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10643" cy="2321419"/>
            </a:xfrm>
            <a:custGeom>
              <a:avLst/>
              <a:gdLst/>
              <a:ahLst/>
              <a:cxnLst/>
              <a:rect l="l" t="t" r="r" b="b"/>
              <a:pathLst>
                <a:path w="3310643" h="2321419">
                  <a:moveTo>
                    <a:pt x="39934" y="0"/>
                  </a:moveTo>
                  <a:lnTo>
                    <a:pt x="3270709" y="0"/>
                  </a:lnTo>
                  <a:cubicBezTo>
                    <a:pt x="3281300" y="0"/>
                    <a:pt x="3291458" y="4207"/>
                    <a:pt x="3298947" y="11696"/>
                  </a:cubicBezTo>
                  <a:cubicBezTo>
                    <a:pt x="3306436" y="19185"/>
                    <a:pt x="3310643" y="29343"/>
                    <a:pt x="3310643" y="39934"/>
                  </a:cubicBezTo>
                  <a:lnTo>
                    <a:pt x="3310643" y="2281485"/>
                  </a:lnTo>
                  <a:cubicBezTo>
                    <a:pt x="3310643" y="2292076"/>
                    <a:pt x="3306436" y="2302233"/>
                    <a:pt x="3298947" y="2309722"/>
                  </a:cubicBezTo>
                  <a:cubicBezTo>
                    <a:pt x="3291458" y="2317211"/>
                    <a:pt x="3281300" y="2321419"/>
                    <a:pt x="3270709" y="2321419"/>
                  </a:cubicBezTo>
                  <a:lnTo>
                    <a:pt x="39934" y="2321419"/>
                  </a:lnTo>
                  <a:cubicBezTo>
                    <a:pt x="29343" y="2321419"/>
                    <a:pt x="19185" y="2317211"/>
                    <a:pt x="11696" y="2309722"/>
                  </a:cubicBezTo>
                  <a:cubicBezTo>
                    <a:pt x="4207" y="2302233"/>
                    <a:pt x="0" y="2292076"/>
                    <a:pt x="0" y="2281485"/>
                  </a:cubicBezTo>
                  <a:lnTo>
                    <a:pt x="0" y="39934"/>
                  </a:lnTo>
                  <a:cubicBezTo>
                    <a:pt x="0" y="29343"/>
                    <a:pt x="4207" y="19185"/>
                    <a:pt x="11696" y="11696"/>
                  </a:cubicBezTo>
                  <a:cubicBezTo>
                    <a:pt x="19185" y="4207"/>
                    <a:pt x="29343" y="0"/>
                    <a:pt x="39934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310643" cy="23595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5221772" y="3984532"/>
            <a:ext cx="6548829" cy="4016570"/>
            <a:chOff x="0" y="0"/>
            <a:chExt cx="2110037" cy="129414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10037" cy="1294142"/>
            </a:xfrm>
            <a:custGeom>
              <a:avLst/>
              <a:gdLst/>
              <a:ahLst/>
              <a:cxnLst/>
              <a:rect l="l" t="t" r="r" b="b"/>
              <a:pathLst>
                <a:path w="2110037" h="1294142">
                  <a:moveTo>
                    <a:pt x="118218" y="0"/>
                  </a:moveTo>
                  <a:lnTo>
                    <a:pt x="1991819" y="0"/>
                  </a:lnTo>
                  <a:cubicBezTo>
                    <a:pt x="2057109" y="0"/>
                    <a:pt x="2110037" y="52928"/>
                    <a:pt x="2110037" y="118218"/>
                  </a:cubicBezTo>
                  <a:lnTo>
                    <a:pt x="2110037" y="1175923"/>
                  </a:lnTo>
                  <a:cubicBezTo>
                    <a:pt x="2110037" y="1241213"/>
                    <a:pt x="2057109" y="1294142"/>
                    <a:pt x="1991819" y="1294142"/>
                  </a:cubicBezTo>
                  <a:lnTo>
                    <a:pt x="118218" y="1294142"/>
                  </a:lnTo>
                  <a:cubicBezTo>
                    <a:pt x="86865" y="1294142"/>
                    <a:pt x="56796" y="1281686"/>
                    <a:pt x="34625" y="1259516"/>
                  </a:cubicBezTo>
                  <a:cubicBezTo>
                    <a:pt x="12455" y="1237346"/>
                    <a:pt x="0" y="1207277"/>
                    <a:pt x="0" y="1175923"/>
                  </a:cubicBezTo>
                  <a:lnTo>
                    <a:pt x="0" y="118218"/>
                  </a:lnTo>
                  <a:cubicBezTo>
                    <a:pt x="0" y="52928"/>
                    <a:pt x="52928" y="0"/>
                    <a:pt x="1182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10037" cy="13322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2" name="Freeform 12"/>
          <p:cNvSpPr/>
          <p:nvPr/>
        </p:nvSpPr>
        <p:spPr>
          <a:xfrm rot="-2475314">
            <a:off x="1123609" y="871519"/>
            <a:ext cx="829061" cy="599939"/>
          </a:xfrm>
          <a:custGeom>
            <a:avLst/>
            <a:gdLst/>
            <a:ahLst/>
            <a:cxnLst/>
            <a:rect l="l" t="t" r="r" b="b"/>
            <a:pathLst>
              <a:path w="829061" h="599939">
                <a:moveTo>
                  <a:pt x="0" y="0"/>
                </a:moveTo>
                <a:lnTo>
                  <a:pt x="829061" y="0"/>
                </a:lnTo>
                <a:lnTo>
                  <a:pt x="829061" y="599939"/>
                </a:lnTo>
                <a:lnTo>
                  <a:pt x="0" y="59993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215866" y="2769542"/>
            <a:ext cx="12560640" cy="1214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95"/>
              </a:lnSpc>
            </a:pPr>
            <a:r>
              <a:rPr lang="en-US" sz="4695" spc="-258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Always verify links before clicking.</a:t>
            </a:r>
            <a:endParaRPr lang="en-US" sz="4695" spc="-258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  <a:p>
            <a:pPr marL="0" lvl="0" indent="0" algn="ctr">
              <a:lnSpc>
                <a:spcPts val="4695"/>
              </a:lnSpc>
            </a:pPr>
          </a:p>
        </p:txBody>
      </p:sp>
      <p:sp>
        <p:nvSpPr>
          <p:cNvPr id="14" name="TextBox 14"/>
          <p:cNvSpPr txBox="1"/>
          <p:nvPr/>
        </p:nvSpPr>
        <p:spPr>
          <a:xfrm>
            <a:off x="5221772" y="4244022"/>
            <a:ext cx="6548829" cy="4709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40"/>
              </a:lnSpc>
            </a:pPr>
            <a:r>
              <a:rPr lang="en-US" sz="3540" b="1" i="1" u="sng" spc="-194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Example</a:t>
            </a:r>
            <a:endParaRPr lang="en-US" sz="3540" b="1" i="1" u="sng" spc="-194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733137" y="729781"/>
            <a:ext cx="2694329" cy="113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95"/>
              </a:lnSpc>
            </a:pPr>
          </a:p>
          <a:p>
            <a:pPr algn="l">
              <a:lnSpc>
                <a:spcPts val="2995"/>
              </a:lnSpc>
            </a:pPr>
            <a:r>
              <a:rPr lang="en-US" sz="2995" b="1" spc="-164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🔗 SLIDE 8</a:t>
            </a:r>
            <a:endParaRPr lang="en-US" sz="2995" b="1" spc="-164">
              <a:solidFill>
                <a:srgbClr val="E7F2FA"/>
              </a:solidFill>
              <a:latin typeface="Montserrat Semi-Bold" panose="00000700000000000000"/>
              <a:ea typeface="Montserrat Semi-Bold" panose="00000700000000000000"/>
              <a:cs typeface="Montserrat Semi-Bold" panose="00000700000000000000"/>
              <a:sym typeface="Montserrat Semi-Bold" panose="00000700000000000000"/>
            </a:endParaRPr>
          </a:p>
          <a:p>
            <a:pPr marL="0" lvl="0" indent="0" algn="l">
              <a:lnSpc>
                <a:spcPts val="2995"/>
              </a:lnSpc>
            </a:pPr>
          </a:p>
        </p:txBody>
      </p:sp>
      <p:sp>
        <p:nvSpPr>
          <p:cNvPr id="16" name="TextBox 16"/>
          <p:cNvSpPr txBox="1"/>
          <p:nvPr/>
        </p:nvSpPr>
        <p:spPr>
          <a:xfrm>
            <a:off x="5470618" y="5046294"/>
            <a:ext cx="6051136" cy="877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7840" lvl="1" indent="-248920" algn="ctr">
              <a:lnSpc>
                <a:spcPts val="2305"/>
              </a:lnSpc>
              <a:buFont typeface="Arial" panose="020B0604020202020204"/>
              <a:buChar char="•"/>
            </a:pPr>
            <a:r>
              <a:rPr lang="en-US" sz="2305" b="1" i="1" spc="-126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Legitimate :  </a:t>
            </a:r>
            <a:r>
              <a:rPr lang="en-US" sz="2305" b="1" i="1" spc="-126">
                <a:solidFill>
                  <a:srgbClr val="FFF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https : //amazon.com</a:t>
            </a:r>
            <a:endParaRPr lang="en-US" sz="2305" b="1" i="1" spc="-126">
              <a:solidFill>
                <a:srgbClr val="FFFFFF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497840" lvl="1" indent="-248920" algn="ctr">
              <a:lnSpc>
                <a:spcPts val="2305"/>
              </a:lnSpc>
              <a:buFont typeface="Arial" panose="020B0604020202020204"/>
              <a:buChar char="•"/>
            </a:pPr>
            <a:r>
              <a:rPr lang="en-US" sz="2305" b="1" i="1" spc="-126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Suspicious :  </a:t>
            </a:r>
            <a:r>
              <a:rPr lang="en-US" sz="2305" b="1" i="1" spc="-126">
                <a:solidFill>
                  <a:srgbClr val="E9E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https : // </a:t>
            </a:r>
            <a:r>
              <a:rPr lang="en-US" sz="2305" b="1" i="1" u="sng" spc="-126">
                <a:solidFill>
                  <a:srgbClr val="E9E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amaz0n-login.net</a:t>
            </a:r>
            <a:endParaRPr lang="en-US" sz="2305" b="1" i="1" u="sng" spc="-126">
              <a:solidFill>
                <a:srgbClr val="E9EFFF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ctr">
              <a:lnSpc>
                <a:spcPts val="2305"/>
              </a:lnSpc>
            </a:pPr>
          </a:p>
        </p:txBody>
      </p:sp>
      <p:sp>
        <p:nvSpPr>
          <p:cNvPr id="17" name="TextBox 17"/>
          <p:cNvSpPr txBox="1"/>
          <p:nvPr/>
        </p:nvSpPr>
        <p:spPr>
          <a:xfrm>
            <a:off x="5470618" y="6516983"/>
            <a:ext cx="6051136" cy="877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7840" lvl="1" indent="-248920" algn="ctr">
              <a:lnSpc>
                <a:spcPts val="2305"/>
              </a:lnSpc>
              <a:buFont typeface="Arial" panose="020B0604020202020204"/>
              <a:buChar char="•"/>
            </a:pPr>
            <a:r>
              <a:rPr lang="en-US" sz="2305" b="1" i="1" spc="-126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Legitimate :  </a:t>
            </a:r>
            <a:r>
              <a:rPr lang="en-US" sz="2305" b="1" i="1" spc="-126">
                <a:solidFill>
                  <a:srgbClr val="FFF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https : // microsoft.com </a:t>
            </a:r>
            <a:endParaRPr lang="en-US" sz="2305" b="1" i="1" spc="-126">
              <a:solidFill>
                <a:srgbClr val="FFFFFF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497840" lvl="1" indent="-248920" algn="ctr">
              <a:lnSpc>
                <a:spcPts val="2305"/>
              </a:lnSpc>
              <a:buFont typeface="Arial" panose="020B0604020202020204"/>
              <a:buChar char="•"/>
            </a:pPr>
            <a:r>
              <a:rPr lang="en-US" sz="2305" b="1" i="1" spc="-126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Suspicious :  </a:t>
            </a:r>
            <a:r>
              <a:rPr lang="en-US" sz="2305" b="1" i="1" spc="-126">
                <a:solidFill>
                  <a:srgbClr val="E9E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https : //</a:t>
            </a:r>
            <a:r>
              <a:rPr lang="en-US" sz="2305" i="1" spc="-126">
                <a:solidFill>
                  <a:srgbClr val="E9EFFF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 </a:t>
            </a:r>
            <a:r>
              <a:rPr lang="en-US" sz="2305" i="1" u="sng" spc="-126">
                <a:solidFill>
                  <a:srgbClr val="E9EFFF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rnicrosoft.com</a:t>
            </a:r>
            <a:endParaRPr lang="en-US" sz="2305" i="1" u="sng" spc="-126">
              <a:solidFill>
                <a:srgbClr val="E9EFFF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algn="ctr">
              <a:lnSpc>
                <a:spcPts val="2305"/>
              </a:lnSpc>
            </a:pPr>
          </a:p>
        </p:txBody>
      </p:sp>
      <p:sp>
        <p:nvSpPr>
          <p:cNvPr id="18" name="TextBox 18"/>
          <p:cNvSpPr txBox="1"/>
          <p:nvPr/>
        </p:nvSpPr>
        <p:spPr>
          <a:xfrm>
            <a:off x="3978162" y="5802418"/>
            <a:ext cx="9036048" cy="44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40"/>
              </a:lnSpc>
            </a:pPr>
            <a:r>
              <a:rPr lang="en-US" sz="3440" i="1" spc="-189">
                <a:solidFill>
                  <a:srgbClr val="FFC700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OR</a:t>
            </a:r>
            <a:endParaRPr lang="en-US" sz="3440" i="1" spc="-189">
              <a:solidFill>
                <a:srgbClr val="FFC700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262517" y="-14081261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4186191" y="4242829"/>
            <a:ext cx="9685144" cy="1810257"/>
            <a:chOff x="0" y="0"/>
            <a:chExt cx="3120560" cy="58326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20560" cy="583266"/>
            </a:xfrm>
            <a:custGeom>
              <a:avLst/>
              <a:gdLst/>
              <a:ahLst/>
              <a:cxnLst/>
              <a:rect l="l" t="t" r="r" b="b"/>
              <a:pathLst>
                <a:path w="3120560" h="583266">
                  <a:moveTo>
                    <a:pt x="42366" y="0"/>
                  </a:moveTo>
                  <a:lnTo>
                    <a:pt x="3078194" y="0"/>
                  </a:lnTo>
                  <a:cubicBezTo>
                    <a:pt x="3089430" y="0"/>
                    <a:pt x="3100206" y="4464"/>
                    <a:pt x="3108151" y="12409"/>
                  </a:cubicBezTo>
                  <a:cubicBezTo>
                    <a:pt x="3116096" y="20354"/>
                    <a:pt x="3120560" y="31130"/>
                    <a:pt x="3120560" y="42366"/>
                  </a:cubicBezTo>
                  <a:lnTo>
                    <a:pt x="3120560" y="540900"/>
                  </a:lnTo>
                  <a:cubicBezTo>
                    <a:pt x="3120560" y="552136"/>
                    <a:pt x="3116096" y="562912"/>
                    <a:pt x="3108151" y="570857"/>
                  </a:cubicBezTo>
                  <a:cubicBezTo>
                    <a:pt x="3100206" y="578803"/>
                    <a:pt x="3089430" y="583266"/>
                    <a:pt x="3078194" y="583266"/>
                  </a:cubicBezTo>
                  <a:lnTo>
                    <a:pt x="42366" y="583266"/>
                  </a:lnTo>
                  <a:cubicBezTo>
                    <a:pt x="18968" y="583266"/>
                    <a:pt x="0" y="564298"/>
                    <a:pt x="0" y="540900"/>
                  </a:cubicBezTo>
                  <a:lnTo>
                    <a:pt x="0" y="42366"/>
                  </a:lnTo>
                  <a:cubicBezTo>
                    <a:pt x="0" y="18968"/>
                    <a:pt x="18968" y="0"/>
                    <a:pt x="42366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45000"/>
                  </a:srgbClr>
                </a:gs>
                <a:gs pos="100000">
                  <a:srgbClr val="2F0087">
                    <a:alpha val="45000"/>
                  </a:srgbClr>
                </a:gs>
              </a:gsLst>
              <a:lin ang="2700000"/>
            </a:gradFill>
            <a:ln w="66675" cap="rnd">
              <a:gradFill>
                <a:gsLst>
                  <a:gs pos="0">
                    <a:srgbClr val="1880BB">
                      <a:alpha val="45000"/>
                    </a:srgbClr>
                  </a:gs>
                  <a:gs pos="100000">
                    <a:srgbClr val="E2E2E2">
                      <a:alpha val="45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120560" cy="6213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803773" y="4809317"/>
            <a:ext cx="15597987" cy="15683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05"/>
              </a:lnSpc>
            </a:pPr>
            <a:r>
              <a:rPr lang="en-US" sz="4305" b="1" i="1" spc="-236">
                <a:solidFill>
                  <a:srgbClr val="E7F2FA"/>
                </a:solidFill>
                <a:latin typeface="Montserrat Semi-Bold Italics" panose="00000700000000000000"/>
                <a:ea typeface="Montserrat Semi-Bold Italics" panose="00000700000000000000"/>
                <a:cs typeface="Montserrat Semi-Bold Italics" panose="00000700000000000000"/>
                <a:sym typeface="Montserrat Semi-Bold Italics" panose="00000700000000000000"/>
              </a:rPr>
              <a:t>🔍 INTERACTIVE SECTION</a:t>
            </a:r>
            <a:endParaRPr lang="en-US" sz="4305" b="1" i="1" spc="-236">
              <a:solidFill>
                <a:srgbClr val="E7F2FA"/>
              </a:solidFill>
              <a:latin typeface="Montserrat Semi-Bold Italics" panose="00000700000000000000"/>
              <a:ea typeface="Montserrat Semi-Bold Italics" panose="00000700000000000000"/>
              <a:cs typeface="Montserrat Semi-Bold Italics" panose="00000700000000000000"/>
              <a:sym typeface="Montserrat Semi-Bold Italics" panose="00000700000000000000"/>
            </a:endParaRPr>
          </a:p>
          <a:p>
            <a:pPr marL="0" lvl="0" indent="0" algn="ctr">
              <a:lnSpc>
                <a:spcPts val="7500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0735736" y="-534128"/>
            <a:ext cx="14843439" cy="15160606"/>
          </a:xfrm>
          <a:custGeom>
            <a:avLst/>
            <a:gdLst/>
            <a:ahLst/>
            <a:cxnLst/>
            <a:rect l="l" t="t" r="r" b="b"/>
            <a:pathLst>
              <a:path w="14843439" h="15160606">
                <a:moveTo>
                  <a:pt x="14843439" y="0"/>
                </a:moveTo>
                <a:lnTo>
                  <a:pt x="0" y="0"/>
                </a:lnTo>
                <a:lnTo>
                  <a:pt x="0" y="15160607"/>
                </a:lnTo>
                <a:lnTo>
                  <a:pt x="14843439" y="15160607"/>
                </a:lnTo>
                <a:lnTo>
                  <a:pt x="14843439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941968">
            <a:off x="-3536408" y="-5333940"/>
            <a:ext cx="14329489" cy="11184628"/>
          </a:xfrm>
          <a:custGeom>
            <a:avLst/>
            <a:gdLst/>
            <a:ahLst/>
            <a:cxnLst/>
            <a:rect l="l" t="t" r="r" b="b"/>
            <a:pathLst>
              <a:path w="14329489" h="11184628">
                <a:moveTo>
                  <a:pt x="814629" y="0"/>
                </a:moveTo>
                <a:lnTo>
                  <a:pt x="14329489" y="1090716"/>
                </a:lnTo>
                <a:lnTo>
                  <a:pt x="13514860" y="11184628"/>
                </a:lnTo>
                <a:lnTo>
                  <a:pt x="0" y="10093911"/>
                </a:lnTo>
                <a:lnTo>
                  <a:pt x="814629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36046" t="-29479" r="-2089" b="-2699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621861" y="-13898649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5385264" y="2644764"/>
            <a:ext cx="7685076" cy="4178891"/>
            <a:chOff x="0" y="0"/>
            <a:chExt cx="2476136" cy="134644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76136" cy="1346442"/>
            </a:xfrm>
            <a:custGeom>
              <a:avLst/>
              <a:gdLst/>
              <a:ahLst/>
              <a:cxnLst/>
              <a:rect l="l" t="t" r="r" b="b"/>
              <a:pathLst>
                <a:path w="2476136" h="1346442">
                  <a:moveTo>
                    <a:pt x="28207" y="0"/>
                  </a:moveTo>
                  <a:lnTo>
                    <a:pt x="2447929" y="0"/>
                  </a:lnTo>
                  <a:cubicBezTo>
                    <a:pt x="2463508" y="0"/>
                    <a:pt x="2476136" y="12629"/>
                    <a:pt x="2476136" y="28207"/>
                  </a:cubicBezTo>
                  <a:lnTo>
                    <a:pt x="2476136" y="1318234"/>
                  </a:lnTo>
                  <a:cubicBezTo>
                    <a:pt x="2476136" y="1333813"/>
                    <a:pt x="2463508" y="1346442"/>
                    <a:pt x="2447929" y="1346442"/>
                  </a:cubicBezTo>
                  <a:lnTo>
                    <a:pt x="28207" y="1346442"/>
                  </a:lnTo>
                  <a:cubicBezTo>
                    <a:pt x="12629" y="1346442"/>
                    <a:pt x="0" y="1333813"/>
                    <a:pt x="0" y="1318234"/>
                  </a:cubicBezTo>
                  <a:lnTo>
                    <a:pt x="0" y="28207"/>
                  </a:lnTo>
                  <a:cubicBezTo>
                    <a:pt x="0" y="12629"/>
                    <a:pt x="12629" y="0"/>
                    <a:pt x="28207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476136" cy="13845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9" name="Freeform 9"/>
          <p:cNvSpPr/>
          <p:nvPr/>
        </p:nvSpPr>
        <p:spPr>
          <a:xfrm rot="-2475314">
            <a:off x="1056185" y="729236"/>
            <a:ext cx="947992" cy="686002"/>
          </a:xfrm>
          <a:custGeom>
            <a:avLst/>
            <a:gdLst/>
            <a:ahLst/>
            <a:cxnLst/>
            <a:rect l="l" t="t" r="r" b="b"/>
            <a:pathLst>
              <a:path w="947992" h="686002">
                <a:moveTo>
                  <a:pt x="0" y="0"/>
                </a:moveTo>
                <a:lnTo>
                  <a:pt x="947992" y="0"/>
                </a:lnTo>
                <a:lnTo>
                  <a:pt x="947992" y="686001"/>
                </a:lnTo>
                <a:lnTo>
                  <a:pt x="0" y="68600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236253" y="372674"/>
            <a:ext cx="9815493" cy="2199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95"/>
              </a:lnSpc>
            </a:pPr>
            <a:r>
              <a:rPr lang="en-US" sz="5695" b="1" i="1" spc="-313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SCENARIO-BASED EXAMPLE</a:t>
            </a:r>
            <a:endParaRPr lang="en-US" sz="5695" b="1" i="1" spc="-313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5695"/>
              </a:lnSpc>
            </a:pPr>
          </a:p>
        </p:txBody>
      </p:sp>
      <p:sp>
        <p:nvSpPr>
          <p:cNvPr id="11" name="TextBox 11"/>
          <p:cNvSpPr txBox="1"/>
          <p:nvPr/>
        </p:nvSpPr>
        <p:spPr>
          <a:xfrm>
            <a:off x="4236253" y="2939042"/>
            <a:ext cx="9597585" cy="624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lang="en-US" sz="2475" b="1" i="1" u="sng" spc="-136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Subject: Urgent – Salary Account Issue   </a:t>
            </a:r>
            <a:endParaRPr lang="en-US" sz="2475" b="1" i="1" u="sng" spc="-136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2475"/>
              </a:lnSpc>
            </a:pPr>
          </a:p>
        </p:txBody>
      </p:sp>
      <p:sp>
        <p:nvSpPr>
          <p:cNvPr id="12" name="TextBox 12"/>
          <p:cNvSpPr txBox="1"/>
          <p:nvPr/>
        </p:nvSpPr>
        <p:spPr>
          <a:xfrm>
            <a:off x="5709906" y="3487672"/>
            <a:ext cx="7177823" cy="2736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5"/>
              </a:lnSpc>
            </a:pPr>
            <a:r>
              <a:rPr lang="en-US" sz="2365" b="1" i="1" spc="35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Dear Employee,</a:t>
            </a:r>
            <a:endParaRPr lang="en-US" sz="2365" b="1" i="1" spc="35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l">
              <a:lnSpc>
                <a:spcPts val="3945"/>
              </a:lnSpc>
            </a:pPr>
            <a:r>
              <a:rPr lang="en-US" sz="2665" b="1" i="1" spc="-146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We have detected an issue with your salary account .Please verify immediately:http://company-payroll-secure.net</a:t>
            </a:r>
            <a:endParaRPr lang="en-US" sz="2665" b="1" i="1" spc="-146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r">
              <a:lnSpc>
                <a:spcPts val="2065"/>
              </a:lnSpc>
            </a:pPr>
          </a:p>
        </p:txBody>
      </p:sp>
      <p:sp>
        <p:nvSpPr>
          <p:cNvPr id="13" name="TextBox 13"/>
          <p:cNvSpPr txBox="1"/>
          <p:nvPr/>
        </p:nvSpPr>
        <p:spPr>
          <a:xfrm>
            <a:off x="1722606" y="1117838"/>
            <a:ext cx="2797709" cy="537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 b="1" i="1">
                <a:solidFill>
                  <a:srgbClr val="FFFFFF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🎭 SLIDE : 9</a:t>
            </a:r>
            <a:endParaRPr lang="en-US" sz="3200" b="1" i="1">
              <a:solidFill>
                <a:srgbClr val="FFFFFF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576630" y="-14581774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4589788" y="2862044"/>
            <a:ext cx="7870726" cy="3714983"/>
            <a:chOff x="0" y="0"/>
            <a:chExt cx="2535953" cy="119697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35953" cy="1196970"/>
            </a:xfrm>
            <a:custGeom>
              <a:avLst/>
              <a:gdLst/>
              <a:ahLst/>
              <a:cxnLst/>
              <a:rect l="l" t="t" r="r" b="b"/>
              <a:pathLst>
                <a:path w="2535953" h="1196970">
                  <a:moveTo>
                    <a:pt x="52133" y="0"/>
                  </a:moveTo>
                  <a:lnTo>
                    <a:pt x="2483820" y="0"/>
                  </a:lnTo>
                  <a:cubicBezTo>
                    <a:pt x="2497647" y="0"/>
                    <a:pt x="2510907" y="5493"/>
                    <a:pt x="2520684" y="15269"/>
                  </a:cubicBezTo>
                  <a:cubicBezTo>
                    <a:pt x="2530461" y="25046"/>
                    <a:pt x="2535953" y="38306"/>
                    <a:pt x="2535953" y="52133"/>
                  </a:cubicBezTo>
                  <a:lnTo>
                    <a:pt x="2535953" y="1144837"/>
                  </a:lnTo>
                  <a:cubicBezTo>
                    <a:pt x="2535953" y="1173629"/>
                    <a:pt x="2512613" y="1196970"/>
                    <a:pt x="2483820" y="1196970"/>
                  </a:cubicBezTo>
                  <a:lnTo>
                    <a:pt x="52133" y="1196970"/>
                  </a:lnTo>
                  <a:cubicBezTo>
                    <a:pt x="38306" y="1196970"/>
                    <a:pt x="25046" y="1191477"/>
                    <a:pt x="15269" y="1181701"/>
                  </a:cubicBezTo>
                  <a:cubicBezTo>
                    <a:pt x="5493" y="1171924"/>
                    <a:pt x="0" y="1158664"/>
                    <a:pt x="0" y="1144837"/>
                  </a:cubicBezTo>
                  <a:lnTo>
                    <a:pt x="0" y="52133"/>
                  </a:lnTo>
                  <a:cubicBezTo>
                    <a:pt x="0" y="38306"/>
                    <a:pt x="5493" y="25046"/>
                    <a:pt x="15269" y="15269"/>
                  </a:cubicBezTo>
                  <a:cubicBezTo>
                    <a:pt x="25046" y="5493"/>
                    <a:pt x="38306" y="0"/>
                    <a:pt x="52133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35953" cy="12350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sp>
        <p:nvSpPr>
          <p:cNvPr id="9" name="Freeform 9"/>
          <p:cNvSpPr/>
          <p:nvPr/>
        </p:nvSpPr>
        <p:spPr>
          <a:xfrm rot="-2926872">
            <a:off x="640162" y="510664"/>
            <a:ext cx="777075" cy="562320"/>
          </a:xfrm>
          <a:custGeom>
            <a:avLst/>
            <a:gdLst/>
            <a:ahLst/>
            <a:cxnLst/>
            <a:rect l="l" t="t" r="r" b="b"/>
            <a:pathLst>
              <a:path w="777075" h="562320">
                <a:moveTo>
                  <a:pt x="0" y="0"/>
                </a:moveTo>
                <a:lnTo>
                  <a:pt x="777076" y="0"/>
                </a:lnTo>
                <a:lnTo>
                  <a:pt x="777076" y="562320"/>
                </a:lnTo>
                <a:lnTo>
                  <a:pt x="0" y="56232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870398" y="1393173"/>
            <a:ext cx="11164867" cy="1113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5"/>
              </a:lnSpc>
            </a:pPr>
            <a:r>
              <a:rPr lang="en-US" sz="6435" b="1" i="1" u="sng" spc="-353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CORRECT  RESPONSE</a:t>
            </a:r>
            <a:endParaRPr lang="en-US" sz="6435" b="1" i="1" u="sng" spc="-353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2475"/>
              </a:lnSpc>
            </a:pPr>
          </a:p>
        </p:txBody>
      </p:sp>
      <p:sp>
        <p:nvSpPr>
          <p:cNvPr id="11" name="TextBox 11"/>
          <p:cNvSpPr txBox="1"/>
          <p:nvPr/>
        </p:nvSpPr>
        <p:spPr>
          <a:xfrm>
            <a:off x="5331726" y="3508882"/>
            <a:ext cx="6747926" cy="2070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29285" lvl="1" indent="-314325" algn="l">
              <a:lnSpc>
                <a:spcPts val="4110"/>
              </a:lnSpc>
              <a:buFont typeface="Arial" panose="020B0604020202020204"/>
              <a:buChar char="•"/>
            </a:pPr>
            <a:r>
              <a:rPr lang="en-US" sz="2915" spc="-160">
                <a:solidFill>
                  <a:srgbClr val="FF3131"/>
                </a:solidFill>
                <a:latin typeface="Montserrat" panose="00000500000000000000"/>
                <a:ea typeface="Montserrat" panose="00000500000000000000"/>
                <a:cs typeface="Montserrat" panose="00000500000000000000"/>
                <a:sym typeface="Montserrat" panose="00000500000000000000"/>
              </a:rPr>
              <a:t>Do not click the link</a:t>
            </a:r>
            <a:endParaRPr lang="en-US" sz="2915" spc="-160">
              <a:solidFill>
                <a:srgbClr val="FF3131"/>
              </a:solidFill>
              <a:latin typeface="Montserrat" panose="00000500000000000000"/>
              <a:ea typeface="Montserrat" panose="00000500000000000000"/>
              <a:cs typeface="Montserrat" panose="00000500000000000000"/>
              <a:sym typeface="Montserrat" panose="00000500000000000000"/>
            </a:endParaRPr>
          </a:p>
          <a:p>
            <a:pPr marL="586105" lvl="1" indent="-292735" algn="l">
              <a:lnSpc>
                <a:spcPts val="6785"/>
              </a:lnSpc>
              <a:buFont typeface="Arial" panose="020B0604020202020204"/>
              <a:buChar char="•"/>
            </a:pPr>
            <a:r>
              <a:rPr lang="en-US" sz="2715" spc="-149">
                <a:solidFill>
                  <a:srgbClr val="FF3131"/>
                </a:solidFill>
                <a:latin typeface="Montserrat" panose="00000500000000000000"/>
                <a:ea typeface="Montserrat" panose="00000500000000000000"/>
                <a:cs typeface="Montserrat" panose="00000500000000000000"/>
                <a:sym typeface="Montserrat" panose="00000500000000000000"/>
              </a:rPr>
              <a:t>Report the email to IT/security team</a:t>
            </a:r>
            <a:endParaRPr lang="en-US" sz="2715" spc="-149">
              <a:solidFill>
                <a:srgbClr val="FF3131"/>
              </a:solidFill>
              <a:latin typeface="Montserrat" panose="00000500000000000000"/>
              <a:ea typeface="Montserrat" panose="00000500000000000000"/>
              <a:cs typeface="Montserrat" panose="00000500000000000000"/>
              <a:sym typeface="Montserrat" panose="00000500000000000000"/>
            </a:endParaRPr>
          </a:p>
          <a:p>
            <a:pPr marL="564515" lvl="1" indent="-281940" algn="l">
              <a:lnSpc>
                <a:spcPts val="2615"/>
              </a:lnSpc>
              <a:buFont typeface="Arial" panose="020B0604020202020204"/>
              <a:buChar char="•"/>
            </a:pPr>
            <a:r>
              <a:rPr lang="en-US" sz="2615" spc="-143">
                <a:solidFill>
                  <a:srgbClr val="FF3131"/>
                </a:solidFill>
                <a:latin typeface="Montserrat" panose="00000500000000000000"/>
                <a:ea typeface="Montserrat" panose="00000500000000000000"/>
                <a:cs typeface="Montserrat" panose="00000500000000000000"/>
                <a:sym typeface="Montserrat" panose="00000500000000000000"/>
              </a:rPr>
              <a:t>Access the official website directly</a:t>
            </a:r>
            <a:endParaRPr lang="en-US" sz="2615" spc="-143">
              <a:solidFill>
                <a:srgbClr val="FF3131"/>
              </a:solidFill>
              <a:latin typeface="Montserrat" panose="00000500000000000000"/>
              <a:ea typeface="Montserrat" panose="00000500000000000000"/>
              <a:cs typeface="Montserrat" panose="00000500000000000000"/>
              <a:sym typeface="Montserrat" panose="00000500000000000000"/>
            </a:endParaRPr>
          </a:p>
          <a:p>
            <a:pPr marL="0" lvl="0" indent="0" algn="ctr">
              <a:lnSpc>
                <a:spcPts val="2615"/>
              </a:lnSpc>
            </a:pPr>
          </a:p>
        </p:txBody>
      </p:sp>
      <p:sp>
        <p:nvSpPr>
          <p:cNvPr id="12" name="TextBox 12"/>
          <p:cNvSpPr txBox="1"/>
          <p:nvPr/>
        </p:nvSpPr>
        <p:spPr>
          <a:xfrm>
            <a:off x="1356861" y="858499"/>
            <a:ext cx="2969155" cy="414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00"/>
              </a:lnSpc>
            </a:pPr>
            <a:r>
              <a:rPr lang="en-US" sz="3200" b="1" spc="-175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✅ SLIDE : 10</a:t>
            </a:r>
            <a:endParaRPr lang="en-US" sz="3200" b="1" spc="-175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1978000" y="1494439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964235" y="-6531249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4589788" y="2862044"/>
            <a:ext cx="9108424" cy="5581675"/>
            <a:chOff x="0" y="0"/>
            <a:chExt cx="2934740" cy="17984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34740" cy="1798419"/>
            </a:xfrm>
            <a:custGeom>
              <a:avLst/>
              <a:gdLst/>
              <a:ahLst/>
              <a:cxnLst/>
              <a:rect l="l" t="t" r="r" b="b"/>
              <a:pathLst>
                <a:path w="2934740" h="1798419">
                  <a:moveTo>
                    <a:pt x="45049" y="0"/>
                  </a:moveTo>
                  <a:lnTo>
                    <a:pt x="2889692" y="0"/>
                  </a:lnTo>
                  <a:cubicBezTo>
                    <a:pt x="2914571" y="0"/>
                    <a:pt x="2934740" y="20169"/>
                    <a:pt x="2934740" y="45049"/>
                  </a:cubicBezTo>
                  <a:lnTo>
                    <a:pt x="2934740" y="1753371"/>
                  </a:lnTo>
                  <a:cubicBezTo>
                    <a:pt x="2934740" y="1778250"/>
                    <a:pt x="2914571" y="1798419"/>
                    <a:pt x="2889692" y="1798419"/>
                  </a:cubicBezTo>
                  <a:lnTo>
                    <a:pt x="45049" y="1798419"/>
                  </a:lnTo>
                  <a:cubicBezTo>
                    <a:pt x="20169" y="1798419"/>
                    <a:pt x="0" y="1778250"/>
                    <a:pt x="0" y="1753371"/>
                  </a:cubicBezTo>
                  <a:lnTo>
                    <a:pt x="0" y="45049"/>
                  </a:lnTo>
                  <a:cubicBezTo>
                    <a:pt x="0" y="20169"/>
                    <a:pt x="20169" y="0"/>
                    <a:pt x="45049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34740" cy="18365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5362438" y="4231319"/>
            <a:ext cx="7421123" cy="3813066"/>
            <a:chOff x="0" y="0"/>
            <a:chExt cx="2391091" cy="1228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391091" cy="1228572"/>
            </a:xfrm>
            <a:custGeom>
              <a:avLst/>
              <a:gdLst/>
              <a:ahLst/>
              <a:cxnLst/>
              <a:rect l="l" t="t" r="r" b="b"/>
              <a:pathLst>
                <a:path w="2391091" h="1228572">
                  <a:moveTo>
                    <a:pt x="104323" y="0"/>
                  </a:moveTo>
                  <a:lnTo>
                    <a:pt x="2286768" y="0"/>
                  </a:lnTo>
                  <a:cubicBezTo>
                    <a:pt x="2344384" y="0"/>
                    <a:pt x="2391091" y="46707"/>
                    <a:pt x="2391091" y="104323"/>
                  </a:cubicBezTo>
                  <a:lnTo>
                    <a:pt x="2391091" y="1124249"/>
                  </a:lnTo>
                  <a:cubicBezTo>
                    <a:pt x="2391091" y="1181865"/>
                    <a:pt x="2344384" y="1228572"/>
                    <a:pt x="2286768" y="1228572"/>
                  </a:cubicBezTo>
                  <a:lnTo>
                    <a:pt x="104323" y="1228572"/>
                  </a:lnTo>
                  <a:cubicBezTo>
                    <a:pt x="46707" y="1228572"/>
                    <a:pt x="0" y="1181865"/>
                    <a:pt x="0" y="1124249"/>
                  </a:cubicBezTo>
                  <a:lnTo>
                    <a:pt x="0" y="104323"/>
                  </a:lnTo>
                  <a:cubicBezTo>
                    <a:pt x="0" y="46707"/>
                    <a:pt x="46707" y="0"/>
                    <a:pt x="104323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391091" cy="1266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2" name="Freeform 12"/>
          <p:cNvSpPr/>
          <p:nvPr/>
        </p:nvSpPr>
        <p:spPr>
          <a:xfrm rot="-2475314">
            <a:off x="1011785" y="671621"/>
            <a:ext cx="960709" cy="695204"/>
          </a:xfrm>
          <a:custGeom>
            <a:avLst/>
            <a:gdLst/>
            <a:ahLst/>
            <a:cxnLst/>
            <a:rect l="l" t="t" r="r" b="b"/>
            <a:pathLst>
              <a:path w="960709" h="695204">
                <a:moveTo>
                  <a:pt x="0" y="0"/>
                </a:moveTo>
                <a:lnTo>
                  <a:pt x="960709" y="0"/>
                </a:lnTo>
                <a:lnTo>
                  <a:pt x="960709" y="695204"/>
                </a:lnTo>
                <a:lnTo>
                  <a:pt x="0" y="69520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931501" y="3399529"/>
            <a:ext cx="8424998" cy="12052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5"/>
              </a:lnSpc>
            </a:pPr>
            <a:r>
              <a:rPr lang="en-US" sz="5145" b="1" i="1" u="sng" spc="-283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IDENTIFY THE RED FLAGS</a:t>
            </a:r>
            <a:endParaRPr lang="en-US" sz="5145" b="1" i="1" u="sng" spc="-283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4255"/>
              </a:lnSpc>
            </a:pPr>
          </a:p>
        </p:txBody>
      </p:sp>
      <p:sp>
        <p:nvSpPr>
          <p:cNvPr id="14" name="TextBox 14"/>
          <p:cNvSpPr txBox="1"/>
          <p:nvPr/>
        </p:nvSpPr>
        <p:spPr>
          <a:xfrm>
            <a:off x="5474010" y="4739743"/>
            <a:ext cx="7098783" cy="2522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30"/>
              </a:lnSpc>
            </a:pPr>
            <a:r>
              <a:rPr lang="en-US" sz="2530" b="1" i="1" spc="-139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EMAIL:</a:t>
            </a:r>
            <a:r>
              <a:rPr lang="en-US" sz="2530" b="1" i="1" spc="-139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SUPPORT@PAYPAI.COM</a:t>
            </a:r>
            <a:endParaRPr lang="en-US" sz="2530" b="1" i="1" spc="-139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l">
              <a:lnSpc>
                <a:spcPts val="2530"/>
              </a:lnSpc>
            </a:pPr>
          </a:p>
          <a:p>
            <a:pPr algn="l">
              <a:lnSpc>
                <a:spcPts val="2530"/>
              </a:lnSpc>
            </a:pPr>
            <a:r>
              <a:rPr lang="en-US" sz="2530" b="1" i="1" spc="-139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LINK: HTTP://PAYPAL-VERIFICATION-LOGIN.XYZ</a:t>
            </a:r>
            <a:endParaRPr lang="en-US" sz="2530" b="1" i="1" spc="-139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l">
              <a:lnSpc>
                <a:spcPts val="2530"/>
              </a:lnSpc>
            </a:pPr>
          </a:p>
          <a:p>
            <a:pPr algn="ctr">
              <a:lnSpc>
                <a:spcPts val="2530"/>
              </a:lnSpc>
            </a:pPr>
          </a:p>
          <a:p>
            <a:pPr algn="l">
              <a:lnSpc>
                <a:spcPts val="2530"/>
              </a:lnSpc>
            </a:pPr>
            <a:r>
              <a:rPr lang="en-US" sz="2530" b="1" i="1" spc="-139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QUESTION: WHAT MAKES THIS SUSPICIOUS?</a:t>
            </a:r>
            <a:endParaRPr lang="en-US" sz="2530" b="1" i="1" spc="-139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2530"/>
              </a:lnSpc>
            </a:pPr>
          </a:p>
        </p:txBody>
      </p:sp>
      <p:sp>
        <p:nvSpPr>
          <p:cNvPr id="15" name="TextBox 15"/>
          <p:cNvSpPr txBox="1"/>
          <p:nvPr/>
        </p:nvSpPr>
        <p:spPr>
          <a:xfrm>
            <a:off x="1712561" y="1076373"/>
            <a:ext cx="3152053" cy="418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85"/>
              </a:lnSpc>
            </a:pPr>
            <a:r>
              <a:rPr lang="en-US" sz="3185" b="1" spc="-175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🔍 SLIDE : 11 </a:t>
            </a:r>
            <a:endParaRPr lang="en-US" sz="3185" b="1" spc="-175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172728" y="-12681533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4589788" y="2537470"/>
            <a:ext cx="9108424" cy="5906249"/>
            <a:chOff x="0" y="0"/>
            <a:chExt cx="2934740" cy="190299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34740" cy="1902997"/>
            </a:xfrm>
            <a:custGeom>
              <a:avLst/>
              <a:gdLst/>
              <a:ahLst/>
              <a:cxnLst/>
              <a:rect l="l" t="t" r="r" b="b"/>
              <a:pathLst>
                <a:path w="2934740" h="1902997">
                  <a:moveTo>
                    <a:pt x="45049" y="0"/>
                  </a:moveTo>
                  <a:lnTo>
                    <a:pt x="2889692" y="0"/>
                  </a:lnTo>
                  <a:cubicBezTo>
                    <a:pt x="2914571" y="0"/>
                    <a:pt x="2934740" y="20169"/>
                    <a:pt x="2934740" y="45049"/>
                  </a:cubicBezTo>
                  <a:lnTo>
                    <a:pt x="2934740" y="1857949"/>
                  </a:lnTo>
                  <a:cubicBezTo>
                    <a:pt x="2934740" y="1882828"/>
                    <a:pt x="2914571" y="1902997"/>
                    <a:pt x="2889692" y="1902997"/>
                  </a:cubicBezTo>
                  <a:lnTo>
                    <a:pt x="45049" y="1902997"/>
                  </a:lnTo>
                  <a:cubicBezTo>
                    <a:pt x="20169" y="1902997"/>
                    <a:pt x="0" y="1882828"/>
                    <a:pt x="0" y="1857949"/>
                  </a:cubicBezTo>
                  <a:lnTo>
                    <a:pt x="0" y="45049"/>
                  </a:lnTo>
                  <a:cubicBezTo>
                    <a:pt x="0" y="20169"/>
                    <a:pt x="20169" y="0"/>
                    <a:pt x="45049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34740" cy="19410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5592061" y="4373321"/>
            <a:ext cx="6548829" cy="3468205"/>
            <a:chOff x="0" y="0"/>
            <a:chExt cx="2110037" cy="111745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10037" cy="1117458"/>
            </a:xfrm>
            <a:custGeom>
              <a:avLst/>
              <a:gdLst/>
              <a:ahLst/>
              <a:cxnLst/>
              <a:rect l="l" t="t" r="r" b="b"/>
              <a:pathLst>
                <a:path w="2110037" h="1117458">
                  <a:moveTo>
                    <a:pt x="118218" y="0"/>
                  </a:moveTo>
                  <a:lnTo>
                    <a:pt x="1991819" y="0"/>
                  </a:lnTo>
                  <a:cubicBezTo>
                    <a:pt x="2057109" y="0"/>
                    <a:pt x="2110037" y="52928"/>
                    <a:pt x="2110037" y="118218"/>
                  </a:cubicBezTo>
                  <a:lnTo>
                    <a:pt x="2110037" y="999240"/>
                  </a:lnTo>
                  <a:cubicBezTo>
                    <a:pt x="2110037" y="1030593"/>
                    <a:pt x="2097582" y="1060662"/>
                    <a:pt x="2075411" y="1082833"/>
                  </a:cubicBezTo>
                  <a:cubicBezTo>
                    <a:pt x="2053241" y="1105003"/>
                    <a:pt x="2023172" y="1117458"/>
                    <a:pt x="1991819" y="1117458"/>
                  </a:cubicBezTo>
                  <a:lnTo>
                    <a:pt x="118218" y="1117458"/>
                  </a:lnTo>
                  <a:cubicBezTo>
                    <a:pt x="52928" y="1117458"/>
                    <a:pt x="0" y="1064530"/>
                    <a:pt x="0" y="999240"/>
                  </a:cubicBezTo>
                  <a:lnTo>
                    <a:pt x="0" y="118218"/>
                  </a:lnTo>
                  <a:cubicBezTo>
                    <a:pt x="0" y="52928"/>
                    <a:pt x="52928" y="0"/>
                    <a:pt x="11821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10037" cy="11555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2" name="Freeform 12"/>
          <p:cNvSpPr/>
          <p:nvPr/>
        </p:nvSpPr>
        <p:spPr>
          <a:xfrm rot="-2475314">
            <a:off x="1004252" y="710812"/>
            <a:ext cx="873843" cy="632345"/>
          </a:xfrm>
          <a:custGeom>
            <a:avLst/>
            <a:gdLst/>
            <a:ahLst/>
            <a:cxnLst/>
            <a:rect l="l" t="t" r="r" b="b"/>
            <a:pathLst>
              <a:path w="873843" h="632345">
                <a:moveTo>
                  <a:pt x="0" y="0"/>
                </a:moveTo>
                <a:lnTo>
                  <a:pt x="873843" y="0"/>
                </a:lnTo>
                <a:lnTo>
                  <a:pt x="873843" y="632345"/>
                </a:lnTo>
                <a:lnTo>
                  <a:pt x="0" y="63234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5120194" y="2950767"/>
            <a:ext cx="7553801" cy="941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075"/>
              </a:lnSpc>
            </a:pPr>
            <a:r>
              <a:rPr lang="en-US" sz="7075" b="1" i="1" u="sng" spc="-389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EXPLANATION</a:t>
            </a:r>
            <a:endParaRPr lang="en-US" sz="7075" b="1" i="1" u="sng" spc="-389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653299" y="4744155"/>
            <a:ext cx="6487591" cy="287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8330" lvl="1" indent="-304165" algn="l">
              <a:lnSpc>
                <a:spcPts val="5890"/>
              </a:lnSpc>
              <a:buFont typeface="Arial" panose="020B0604020202020204"/>
              <a:buChar char="•"/>
            </a:pPr>
            <a:r>
              <a:rPr lang="en-US" sz="2815" b="1" i="1" spc="-25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Domain spoofing (paypaI vs paypal)</a:t>
            </a:r>
            <a:endParaRPr lang="en-US" sz="2815" b="1" i="1" spc="-253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608330" lvl="1" indent="-304165" algn="l">
              <a:lnSpc>
                <a:spcPts val="5890"/>
              </a:lnSpc>
              <a:buFont typeface="Arial" panose="020B0604020202020204"/>
              <a:buChar char="•"/>
            </a:pPr>
            <a:r>
              <a:rPr lang="en-US" sz="2815" b="1" i="1" spc="-25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Fake website URL</a:t>
            </a:r>
            <a:endParaRPr lang="en-US" sz="2815" b="1" i="1" spc="-253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608330" lvl="1" indent="-304165" algn="just">
              <a:lnSpc>
                <a:spcPts val="5890"/>
              </a:lnSpc>
              <a:buFont typeface="Arial" panose="020B0604020202020204"/>
              <a:buChar char="•"/>
            </a:pPr>
            <a:r>
              <a:rPr lang="en-US" sz="2815" b="1" i="1" spc="-25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Use of urgency to pressure action</a:t>
            </a:r>
            <a:endParaRPr lang="en-US" sz="2815" b="1" i="1" spc="-253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5890"/>
              </a:lnSpc>
            </a:pPr>
          </a:p>
        </p:txBody>
      </p:sp>
      <p:sp>
        <p:nvSpPr>
          <p:cNvPr id="15" name="TextBox 15"/>
          <p:cNvSpPr txBox="1"/>
          <p:nvPr/>
        </p:nvSpPr>
        <p:spPr>
          <a:xfrm>
            <a:off x="1620633" y="1085850"/>
            <a:ext cx="2969155" cy="412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00"/>
              </a:lnSpc>
            </a:pPr>
            <a:r>
              <a:rPr lang="en-US" sz="3100" b="1" spc="-170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✅ SLIDE 12 </a:t>
            </a:r>
            <a:endParaRPr lang="en-US" sz="3100" b="1" spc="-170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120532" y="-1422326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3628336" y="2699757"/>
            <a:ext cx="10629867" cy="5544208"/>
            <a:chOff x="0" y="0"/>
            <a:chExt cx="3424950" cy="178634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424950" cy="1786347"/>
            </a:xfrm>
            <a:custGeom>
              <a:avLst/>
              <a:gdLst/>
              <a:ahLst/>
              <a:cxnLst/>
              <a:rect l="l" t="t" r="r" b="b"/>
              <a:pathLst>
                <a:path w="3424950" h="1786347">
                  <a:moveTo>
                    <a:pt x="38601" y="0"/>
                  </a:moveTo>
                  <a:lnTo>
                    <a:pt x="3386350" y="0"/>
                  </a:lnTo>
                  <a:cubicBezTo>
                    <a:pt x="3396587" y="0"/>
                    <a:pt x="3406405" y="4067"/>
                    <a:pt x="3413644" y="11306"/>
                  </a:cubicBezTo>
                  <a:cubicBezTo>
                    <a:pt x="3420883" y="18545"/>
                    <a:pt x="3424950" y="28363"/>
                    <a:pt x="3424950" y="38601"/>
                  </a:cubicBezTo>
                  <a:lnTo>
                    <a:pt x="3424950" y="1747747"/>
                  </a:lnTo>
                  <a:cubicBezTo>
                    <a:pt x="3424950" y="1769065"/>
                    <a:pt x="3407668" y="1786347"/>
                    <a:pt x="3386350" y="1786347"/>
                  </a:cubicBezTo>
                  <a:lnTo>
                    <a:pt x="38601" y="1786347"/>
                  </a:lnTo>
                  <a:cubicBezTo>
                    <a:pt x="17282" y="1786347"/>
                    <a:pt x="0" y="1769065"/>
                    <a:pt x="0" y="1747747"/>
                  </a:cubicBezTo>
                  <a:lnTo>
                    <a:pt x="0" y="38601"/>
                  </a:lnTo>
                  <a:cubicBezTo>
                    <a:pt x="0" y="17282"/>
                    <a:pt x="17282" y="0"/>
                    <a:pt x="38601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424950" cy="182444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4820817" y="4231319"/>
            <a:ext cx="8877395" cy="3441535"/>
            <a:chOff x="0" y="0"/>
            <a:chExt cx="2860303" cy="11088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860303" cy="1108865"/>
            </a:xfrm>
            <a:custGeom>
              <a:avLst/>
              <a:gdLst/>
              <a:ahLst/>
              <a:cxnLst/>
              <a:rect l="l" t="t" r="r" b="b"/>
              <a:pathLst>
                <a:path w="2860303" h="1108865">
                  <a:moveTo>
                    <a:pt x="87209" y="0"/>
                  </a:moveTo>
                  <a:lnTo>
                    <a:pt x="2773093" y="0"/>
                  </a:lnTo>
                  <a:cubicBezTo>
                    <a:pt x="2796223" y="0"/>
                    <a:pt x="2818405" y="9188"/>
                    <a:pt x="2834760" y="25543"/>
                  </a:cubicBezTo>
                  <a:cubicBezTo>
                    <a:pt x="2851114" y="41898"/>
                    <a:pt x="2860303" y="64080"/>
                    <a:pt x="2860303" y="87209"/>
                  </a:cubicBezTo>
                  <a:lnTo>
                    <a:pt x="2860303" y="1021655"/>
                  </a:lnTo>
                  <a:cubicBezTo>
                    <a:pt x="2860303" y="1044785"/>
                    <a:pt x="2851114" y="1066967"/>
                    <a:pt x="2834760" y="1083322"/>
                  </a:cubicBezTo>
                  <a:cubicBezTo>
                    <a:pt x="2818405" y="1099677"/>
                    <a:pt x="2796223" y="1108865"/>
                    <a:pt x="2773093" y="1108865"/>
                  </a:cubicBezTo>
                  <a:lnTo>
                    <a:pt x="87209" y="1108865"/>
                  </a:lnTo>
                  <a:cubicBezTo>
                    <a:pt x="64080" y="1108865"/>
                    <a:pt x="41898" y="1099677"/>
                    <a:pt x="25543" y="1083322"/>
                  </a:cubicBezTo>
                  <a:cubicBezTo>
                    <a:pt x="9188" y="1066967"/>
                    <a:pt x="0" y="1044785"/>
                    <a:pt x="0" y="1021655"/>
                  </a:cubicBezTo>
                  <a:lnTo>
                    <a:pt x="0" y="87209"/>
                  </a:lnTo>
                  <a:cubicBezTo>
                    <a:pt x="0" y="64080"/>
                    <a:pt x="9188" y="41898"/>
                    <a:pt x="25543" y="25543"/>
                  </a:cubicBezTo>
                  <a:cubicBezTo>
                    <a:pt x="41898" y="9188"/>
                    <a:pt x="64080" y="0"/>
                    <a:pt x="8720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860303" cy="1146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2" name="Freeform 12"/>
          <p:cNvSpPr/>
          <p:nvPr/>
        </p:nvSpPr>
        <p:spPr>
          <a:xfrm rot="-2475314">
            <a:off x="1005266" y="713507"/>
            <a:ext cx="871047" cy="630321"/>
          </a:xfrm>
          <a:custGeom>
            <a:avLst/>
            <a:gdLst/>
            <a:ahLst/>
            <a:cxnLst/>
            <a:rect l="l" t="t" r="r" b="b"/>
            <a:pathLst>
              <a:path w="871047" h="630321">
                <a:moveTo>
                  <a:pt x="0" y="0"/>
                </a:moveTo>
                <a:lnTo>
                  <a:pt x="871047" y="0"/>
                </a:lnTo>
                <a:lnTo>
                  <a:pt x="871047" y="630321"/>
                </a:lnTo>
                <a:lnTo>
                  <a:pt x="0" y="6303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5061159" y="3268738"/>
            <a:ext cx="8637053" cy="1353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00"/>
              </a:lnSpc>
            </a:pPr>
            <a:r>
              <a:rPr lang="en-US" sz="5300" b="1" i="1" spc="-291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REAL-WORLD INCIDENT</a:t>
            </a:r>
            <a:endParaRPr lang="en-US" sz="5300" b="1" i="1" spc="-291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5300"/>
              </a:lnSpc>
            </a:pPr>
          </a:p>
        </p:txBody>
      </p:sp>
      <p:sp>
        <p:nvSpPr>
          <p:cNvPr id="14" name="TextBox 14"/>
          <p:cNvSpPr txBox="1"/>
          <p:nvPr/>
        </p:nvSpPr>
        <p:spPr>
          <a:xfrm>
            <a:off x="5469200" y="4539291"/>
            <a:ext cx="8229013" cy="2892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5"/>
              </a:lnSpc>
            </a:pPr>
            <a:r>
              <a:rPr lang="en-US" sz="3245" b="1" i="1" spc="-178">
                <a:solidFill>
                  <a:srgbClr val="E7F2FA"/>
                </a:solidFill>
                <a:latin typeface="Montserrat Semi-Bold Italics" panose="00000700000000000000"/>
                <a:ea typeface="Montserrat Semi-Bold Italics" panose="00000700000000000000"/>
                <a:cs typeface="Montserrat Semi-Bold Italics" panose="00000700000000000000"/>
                <a:sym typeface="Montserrat Semi-Bold Italics" panose="00000700000000000000"/>
              </a:rPr>
              <a:t> Google Docs Phishing Attack</a:t>
            </a:r>
            <a:endParaRPr lang="en-US" sz="3245" b="1" i="1" spc="-178">
              <a:solidFill>
                <a:srgbClr val="E7F2FA"/>
              </a:solidFill>
              <a:latin typeface="Montserrat Semi-Bold Italics" panose="00000700000000000000"/>
              <a:ea typeface="Montserrat Semi-Bold Italics" panose="00000700000000000000"/>
              <a:cs typeface="Montserrat Semi-Bold Italics" panose="00000700000000000000"/>
              <a:sym typeface="Montserrat Semi-Bold Italics" panose="00000700000000000000"/>
            </a:endParaRPr>
          </a:p>
          <a:p>
            <a:pPr algn="l">
              <a:lnSpc>
                <a:spcPts val="2195"/>
              </a:lnSpc>
            </a:pPr>
          </a:p>
          <a:p>
            <a:pPr marL="560070" lvl="1" indent="-280035" algn="l">
              <a:lnSpc>
                <a:spcPts val="2595"/>
              </a:lnSpc>
              <a:buFont typeface="Arial" panose="020B0604020202020204"/>
              <a:buChar char="•"/>
            </a:pPr>
            <a:r>
              <a:rPr lang="en-US" sz="2595" i="1" spc="-142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Users received a fake Google Docs invitation</a:t>
            </a:r>
            <a:endParaRPr lang="en-US" sz="2595" i="1" spc="-142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560070" lvl="1" indent="-280035" algn="l">
              <a:lnSpc>
                <a:spcPts val="2595"/>
              </a:lnSpc>
              <a:buFont typeface="Arial" panose="020B0604020202020204"/>
              <a:buChar char="•"/>
            </a:pPr>
            <a:r>
              <a:rPr lang="en-US" sz="2595" i="1" spc="-142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The email appeared legitimate</a:t>
            </a:r>
            <a:endParaRPr lang="en-US" sz="2595" i="1" spc="-142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560070" lvl="1" indent="-280035" algn="l">
              <a:lnSpc>
                <a:spcPts val="2595"/>
              </a:lnSpc>
              <a:buFont typeface="Arial" panose="020B0604020202020204"/>
              <a:buChar char="•"/>
            </a:pPr>
            <a:r>
              <a:rPr lang="en-US" sz="2595" i="1" spc="-142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Users unknowingly granted malicious permissions</a:t>
            </a:r>
            <a:endParaRPr lang="en-US" sz="2595" i="1" spc="-142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algn="l">
              <a:lnSpc>
                <a:spcPts val="2195"/>
              </a:lnSpc>
            </a:pPr>
          </a:p>
          <a:p>
            <a:pPr algn="l">
              <a:lnSpc>
                <a:spcPts val="2595"/>
              </a:lnSpc>
            </a:pPr>
            <a:r>
              <a:rPr lang="en-US" sz="2595" spc="-142">
                <a:solidFill>
                  <a:srgbClr val="E7F2FA"/>
                </a:solidFill>
                <a:latin typeface="Montserrat" panose="00000500000000000000"/>
                <a:ea typeface="Montserrat" panose="00000500000000000000"/>
                <a:cs typeface="Montserrat" panose="00000500000000000000"/>
                <a:sym typeface="Montserrat" panose="00000500000000000000"/>
              </a:rPr>
              <a:t>   </a:t>
            </a:r>
            <a:r>
              <a:rPr lang="en-US" sz="2595" b="1" spc="-142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Key Takeaway:</a:t>
            </a:r>
            <a:endParaRPr lang="en-US" sz="2595" b="1" spc="-142">
              <a:solidFill>
                <a:srgbClr val="E7F2FA"/>
              </a:solidFill>
              <a:latin typeface="Montserrat Semi-Bold" panose="00000700000000000000"/>
              <a:ea typeface="Montserrat Semi-Bold" panose="00000700000000000000"/>
              <a:cs typeface="Montserrat Semi-Bold" panose="00000700000000000000"/>
              <a:sym typeface="Montserrat Semi-Bold" panose="00000700000000000000"/>
            </a:endParaRPr>
          </a:p>
          <a:p>
            <a:pPr algn="l">
              <a:lnSpc>
                <a:spcPts val="2495"/>
              </a:lnSpc>
            </a:pPr>
            <a:r>
              <a:rPr lang="en-US" sz="2495" i="1" spc="-137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   </a:t>
            </a:r>
            <a:r>
              <a:rPr lang="en-US" sz="2495" i="1" spc="-137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Even trusted platforms can be exploited</a:t>
            </a:r>
            <a:endParaRPr lang="en-US" sz="2495" i="1" spc="-137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0" lvl="0" indent="0" algn="ctr">
              <a:lnSpc>
                <a:spcPts val="2495"/>
              </a:lnSpc>
            </a:pPr>
          </a:p>
        </p:txBody>
      </p:sp>
      <p:sp>
        <p:nvSpPr>
          <p:cNvPr id="15" name="TextBox 15"/>
          <p:cNvSpPr txBox="1"/>
          <p:nvPr/>
        </p:nvSpPr>
        <p:spPr>
          <a:xfrm>
            <a:off x="1620633" y="1001713"/>
            <a:ext cx="2969155" cy="412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00"/>
              </a:lnSpc>
            </a:pPr>
            <a:r>
              <a:rPr lang="en-US" sz="3100" b="1" spc="-170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🧪 SLIDE : 13 </a:t>
            </a:r>
            <a:endParaRPr lang="en-US" sz="3100" b="1" spc="-170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475481" y="3043076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322506" y="-16312710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4589788" y="2862044"/>
            <a:ext cx="9108424" cy="5581675"/>
            <a:chOff x="0" y="0"/>
            <a:chExt cx="2934740" cy="17984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34740" cy="1798419"/>
            </a:xfrm>
            <a:custGeom>
              <a:avLst/>
              <a:gdLst/>
              <a:ahLst/>
              <a:cxnLst/>
              <a:rect l="l" t="t" r="r" b="b"/>
              <a:pathLst>
                <a:path w="2934740" h="1798419">
                  <a:moveTo>
                    <a:pt x="45049" y="0"/>
                  </a:moveTo>
                  <a:lnTo>
                    <a:pt x="2889692" y="0"/>
                  </a:lnTo>
                  <a:cubicBezTo>
                    <a:pt x="2914571" y="0"/>
                    <a:pt x="2934740" y="20169"/>
                    <a:pt x="2934740" y="45049"/>
                  </a:cubicBezTo>
                  <a:lnTo>
                    <a:pt x="2934740" y="1753371"/>
                  </a:lnTo>
                  <a:cubicBezTo>
                    <a:pt x="2934740" y="1778250"/>
                    <a:pt x="2914571" y="1798419"/>
                    <a:pt x="2889692" y="1798419"/>
                  </a:cubicBezTo>
                  <a:lnTo>
                    <a:pt x="45049" y="1798419"/>
                  </a:lnTo>
                  <a:cubicBezTo>
                    <a:pt x="20169" y="1798419"/>
                    <a:pt x="0" y="1778250"/>
                    <a:pt x="0" y="1753371"/>
                  </a:cubicBezTo>
                  <a:lnTo>
                    <a:pt x="0" y="45049"/>
                  </a:lnTo>
                  <a:cubicBezTo>
                    <a:pt x="0" y="20169"/>
                    <a:pt x="20169" y="0"/>
                    <a:pt x="45049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34740" cy="18365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4965494" y="3997097"/>
            <a:ext cx="7580735" cy="4058453"/>
            <a:chOff x="0" y="0"/>
            <a:chExt cx="2442518" cy="130763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42518" cy="1307636"/>
            </a:xfrm>
            <a:custGeom>
              <a:avLst/>
              <a:gdLst/>
              <a:ahLst/>
              <a:cxnLst/>
              <a:rect l="l" t="t" r="r" b="b"/>
              <a:pathLst>
                <a:path w="2442518" h="1307636">
                  <a:moveTo>
                    <a:pt x="102126" y="0"/>
                  </a:moveTo>
                  <a:lnTo>
                    <a:pt x="2340391" y="0"/>
                  </a:lnTo>
                  <a:cubicBezTo>
                    <a:pt x="2367477" y="0"/>
                    <a:pt x="2393453" y="10760"/>
                    <a:pt x="2412605" y="29912"/>
                  </a:cubicBezTo>
                  <a:cubicBezTo>
                    <a:pt x="2431758" y="49064"/>
                    <a:pt x="2442518" y="75041"/>
                    <a:pt x="2442518" y="102126"/>
                  </a:cubicBezTo>
                  <a:lnTo>
                    <a:pt x="2442518" y="1205510"/>
                  </a:lnTo>
                  <a:cubicBezTo>
                    <a:pt x="2442518" y="1232596"/>
                    <a:pt x="2431758" y="1258572"/>
                    <a:pt x="2412605" y="1277724"/>
                  </a:cubicBezTo>
                  <a:cubicBezTo>
                    <a:pt x="2393453" y="1296876"/>
                    <a:pt x="2367477" y="1307636"/>
                    <a:pt x="2340391" y="1307636"/>
                  </a:cubicBezTo>
                  <a:lnTo>
                    <a:pt x="102126" y="1307636"/>
                  </a:lnTo>
                  <a:cubicBezTo>
                    <a:pt x="45723" y="1307636"/>
                    <a:pt x="0" y="1261913"/>
                    <a:pt x="0" y="1205510"/>
                  </a:cubicBezTo>
                  <a:lnTo>
                    <a:pt x="0" y="102126"/>
                  </a:lnTo>
                  <a:cubicBezTo>
                    <a:pt x="0" y="75041"/>
                    <a:pt x="10760" y="49064"/>
                    <a:pt x="29912" y="29912"/>
                  </a:cubicBezTo>
                  <a:cubicBezTo>
                    <a:pt x="49064" y="10760"/>
                    <a:pt x="75041" y="0"/>
                    <a:pt x="102126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442518" cy="13457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2" name="Freeform 12"/>
          <p:cNvSpPr/>
          <p:nvPr/>
        </p:nvSpPr>
        <p:spPr>
          <a:xfrm rot="-2475314">
            <a:off x="1001600" y="703767"/>
            <a:ext cx="881155" cy="637636"/>
          </a:xfrm>
          <a:custGeom>
            <a:avLst/>
            <a:gdLst/>
            <a:ahLst/>
            <a:cxnLst/>
            <a:rect l="l" t="t" r="r" b="b"/>
            <a:pathLst>
              <a:path w="881155" h="637636">
                <a:moveTo>
                  <a:pt x="0" y="0"/>
                </a:moveTo>
                <a:lnTo>
                  <a:pt x="881155" y="0"/>
                </a:lnTo>
                <a:lnTo>
                  <a:pt x="881155" y="637636"/>
                </a:lnTo>
                <a:lnTo>
                  <a:pt x="0" y="63763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965494" y="3284112"/>
            <a:ext cx="8357012" cy="939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15"/>
              </a:lnSpc>
            </a:pPr>
            <a:r>
              <a:rPr lang="en-US" sz="3615" b="1" i="1" spc="-198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BUSINESS EMAIL COMPROMISE (BEC)</a:t>
            </a:r>
            <a:endParaRPr lang="en-US" sz="3615" b="1" i="1" spc="-198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3615"/>
              </a:lnSpc>
            </a:pPr>
          </a:p>
        </p:txBody>
      </p:sp>
      <p:sp>
        <p:nvSpPr>
          <p:cNvPr id="14" name="TextBox 14"/>
          <p:cNvSpPr txBox="1"/>
          <p:nvPr/>
        </p:nvSpPr>
        <p:spPr>
          <a:xfrm>
            <a:off x="5269783" y="4367608"/>
            <a:ext cx="7458157" cy="32273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00"/>
              </a:lnSpc>
            </a:pPr>
            <a:r>
              <a:rPr lang="en-US" sz="2375" b="1" spc="484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Example</a:t>
            </a:r>
            <a:r>
              <a:rPr lang="en-US" sz="2375" b="1" spc="484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: </a:t>
            </a:r>
            <a:r>
              <a:rPr lang="en-US" sz="2375" i="1" spc="484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Message from “CEO” requesting urgent fund transfer</a:t>
            </a:r>
            <a:endParaRPr lang="en-US" sz="2375" i="1" spc="484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algn="l">
              <a:lnSpc>
                <a:spcPts val="3800"/>
              </a:lnSpc>
            </a:pPr>
            <a:r>
              <a:rPr lang="en-US" sz="2375" b="1" spc="484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Risk</a:t>
            </a:r>
            <a:r>
              <a:rPr lang="en-US" sz="2375" b="1" spc="484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: </a:t>
            </a:r>
            <a:r>
              <a:rPr lang="en-US" sz="2375" i="1" spc="484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Financial loss and data compromise</a:t>
            </a:r>
            <a:endParaRPr lang="en-US" sz="2375" i="1" spc="484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algn="l">
              <a:lnSpc>
                <a:spcPts val="3800"/>
              </a:lnSpc>
            </a:pPr>
            <a:r>
              <a:rPr lang="en-US" sz="2375" b="1" spc="484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Lesson: </a:t>
            </a:r>
            <a:r>
              <a:rPr lang="en-US" sz="2375" i="1" spc="484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Always verify unusual requests through official channels</a:t>
            </a:r>
            <a:endParaRPr lang="en-US" sz="2375" i="1" spc="484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0" lvl="0" indent="0" algn="just">
              <a:lnSpc>
                <a:spcPts val="2375"/>
              </a:lnSpc>
            </a:pPr>
          </a:p>
        </p:txBody>
      </p:sp>
      <p:sp>
        <p:nvSpPr>
          <p:cNvPr id="15" name="TextBox 15"/>
          <p:cNvSpPr txBox="1"/>
          <p:nvPr/>
        </p:nvSpPr>
        <p:spPr>
          <a:xfrm>
            <a:off x="1762634" y="968677"/>
            <a:ext cx="2969155" cy="752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3000" b="1" spc="-164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💼 SLIDE : 14 </a:t>
            </a:r>
            <a:endParaRPr lang="en-US" sz="3000" b="1" spc="-164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  <a:p>
            <a:pPr marL="0" lvl="0" indent="0" algn="l">
              <a:lnSpc>
                <a:spcPts val="3000"/>
              </a:lnSpc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343677" y="-14081261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5117221" y="3975535"/>
            <a:ext cx="9108424" cy="2335929"/>
            <a:chOff x="0" y="0"/>
            <a:chExt cx="2934740" cy="75263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34740" cy="752638"/>
            </a:xfrm>
            <a:custGeom>
              <a:avLst/>
              <a:gdLst/>
              <a:ahLst/>
              <a:cxnLst/>
              <a:rect l="l" t="t" r="r" b="b"/>
              <a:pathLst>
                <a:path w="2934740" h="752638">
                  <a:moveTo>
                    <a:pt x="45049" y="0"/>
                  </a:moveTo>
                  <a:lnTo>
                    <a:pt x="2889692" y="0"/>
                  </a:lnTo>
                  <a:cubicBezTo>
                    <a:pt x="2914571" y="0"/>
                    <a:pt x="2934740" y="20169"/>
                    <a:pt x="2934740" y="45049"/>
                  </a:cubicBezTo>
                  <a:lnTo>
                    <a:pt x="2934740" y="707589"/>
                  </a:lnTo>
                  <a:cubicBezTo>
                    <a:pt x="2934740" y="732469"/>
                    <a:pt x="2914571" y="752638"/>
                    <a:pt x="2889692" y="752638"/>
                  </a:cubicBezTo>
                  <a:lnTo>
                    <a:pt x="45049" y="752638"/>
                  </a:lnTo>
                  <a:cubicBezTo>
                    <a:pt x="20169" y="752638"/>
                    <a:pt x="0" y="732469"/>
                    <a:pt x="0" y="707589"/>
                  </a:cubicBezTo>
                  <a:lnTo>
                    <a:pt x="0" y="45049"/>
                  </a:lnTo>
                  <a:cubicBezTo>
                    <a:pt x="0" y="20169"/>
                    <a:pt x="20169" y="0"/>
                    <a:pt x="45049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45000"/>
                  </a:srgbClr>
                </a:gs>
                <a:gs pos="100000">
                  <a:srgbClr val="2F0087">
                    <a:alpha val="45000"/>
                  </a:srgbClr>
                </a:gs>
              </a:gsLst>
              <a:lin ang="2700000"/>
            </a:gradFill>
            <a:ln w="66675" cap="rnd">
              <a:gradFill>
                <a:gsLst>
                  <a:gs pos="0">
                    <a:srgbClr val="1880BB">
                      <a:alpha val="45000"/>
                    </a:srgbClr>
                  </a:gs>
                  <a:gs pos="100000">
                    <a:srgbClr val="E2E2E2">
                      <a:alpha val="45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34740" cy="7907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240150" y="4872361"/>
            <a:ext cx="10862567" cy="11563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05"/>
              </a:lnSpc>
            </a:pPr>
            <a:r>
              <a:rPr lang="en-US" sz="4505" b="1" spc="-247">
                <a:solidFill>
                  <a:srgbClr val="E7F2FA"/>
                </a:solidFill>
                <a:latin typeface="Montserrat Semi-Bold" panose="00000700000000000000"/>
                <a:ea typeface="Montserrat Semi-Bold" panose="00000700000000000000"/>
                <a:cs typeface="Montserrat Semi-Bold" panose="00000700000000000000"/>
                <a:sym typeface="Montserrat Semi-Bold" panose="00000700000000000000"/>
              </a:rPr>
              <a:t>🛡️ SECURITY BEST PRACTICES</a:t>
            </a:r>
            <a:endParaRPr lang="en-US" sz="4505" b="1" spc="-247">
              <a:solidFill>
                <a:srgbClr val="E7F2FA"/>
              </a:solidFill>
              <a:latin typeface="Montserrat Semi-Bold" panose="00000700000000000000"/>
              <a:ea typeface="Montserrat Semi-Bold" panose="00000700000000000000"/>
              <a:cs typeface="Montserrat Semi-Bold" panose="00000700000000000000"/>
              <a:sym typeface="Montserrat Semi-Bold" panose="00000700000000000000"/>
            </a:endParaRPr>
          </a:p>
          <a:p>
            <a:pPr marL="0" lvl="0" indent="0" algn="ctr">
              <a:lnSpc>
                <a:spcPts val="4505"/>
              </a:lnSpc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343677" y="-14081261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4589788" y="2862044"/>
            <a:ext cx="9108424" cy="5581675"/>
            <a:chOff x="0" y="0"/>
            <a:chExt cx="2934740" cy="17984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34740" cy="1798419"/>
            </a:xfrm>
            <a:custGeom>
              <a:avLst/>
              <a:gdLst/>
              <a:ahLst/>
              <a:cxnLst/>
              <a:rect l="l" t="t" r="r" b="b"/>
              <a:pathLst>
                <a:path w="2934740" h="1798419">
                  <a:moveTo>
                    <a:pt x="45049" y="0"/>
                  </a:moveTo>
                  <a:lnTo>
                    <a:pt x="2889692" y="0"/>
                  </a:lnTo>
                  <a:cubicBezTo>
                    <a:pt x="2914571" y="0"/>
                    <a:pt x="2934740" y="20169"/>
                    <a:pt x="2934740" y="45049"/>
                  </a:cubicBezTo>
                  <a:lnTo>
                    <a:pt x="2934740" y="1753371"/>
                  </a:lnTo>
                  <a:cubicBezTo>
                    <a:pt x="2934740" y="1778250"/>
                    <a:pt x="2914571" y="1798419"/>
                    <a:pt x="2889692" y="1798419"/>
                  </a:cubicBezTo>
                  <a:lnTo>
                    <a:pt x="45049" y="1798419"/>
                  </a:lnTo>
                  <a:cubicBezTo>
                    <a:pt x="20169" y="1798419"/>
                    <a:pt x="0" y="1778250"/>
                    <a:pt x="0" y="1753371"/>
                  </a:cubicBezTo>
                  <a:lnTo>
                    <a:pt x="0" y="45049"/>
                  </a:lnTo>
                  <a:cubicBezTo>
                    <a:pt x="0" y="20169"/>
                    <a:pt x="20169" y="0"/>
                    <a:pt x="45049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34740" cy="18365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5017577" y="4646246"/>
            <a:ext cx="8354275" cy="3519516"/>
            <a:chOff x="0" y="0"/>
            <a:chExt cx="2691753" cy="113399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691753" cy="1133990"/>
            </a:xfrm>
            <a:custGeom>
              <a:avLst/>
              <a:gdLst/>
              <a:ahLst/>
              <a:cxnLst/>
              <a:rect l="l" t="t" r="r" b="b"/>
              <a:pathLst>
                <a:path w="2691753" h="1133990">
                  <a:moveTo>
                    <a:pt x="92670" y="0"/>
                  </a:moveTo>
                  <a:lnTo>
                    <a:pt x="2599083" y="0"/>
                  </a:lnTo>
                  <a:cubicBezTo>
                    <a:pt x="2650263" y="0"/>
                    <a:pt x="2691753" y="41490"/>
                    <a:pt x="2691753" y="92670"/>
                  </a:cubicBezTo>
                  <a:lnTo>
                    <a:pt x="2691753" y="1041320"/>
                  </a:lnTo>
                  <a:cubicBezTo>
                    <a:pt x="2691753" y="1092500"/>
                    <a:pt x="2650263" y="1133990"/>
                    <a:pt x="2599083" y="1133990"/>
                  </a:cubicBezTo>
                  <a:lnTo>
                    <a:pt x="92670" y="1133990"/>
                  </a:lnTo>
                  <a:cubicBezTo>
                    <a:pt x="41490" y="1133990"/>
                    <a:pt x="0" y="1092500"/>
                    <a:pt x="0" y="1041320"/>
                  </a:cubicBezTo>
                  <a:lnTo>
                    <a:pt x="0" y="92670"/>
                  </a:lnTo>
                  <a:cubicBezTo>
                    <a:pt x="0" y="41490"/>
                    <a:pt x="41490" y="0"/>
                    <a:pt x="9267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100000"/>
                  </a:srgbClr>
                </a:gs>
                <a:gs pos="100000">
                  <a:srgbClr val="2F0087">
                    <a:alpha val="100000"/>
                  </a:srgbClr>
                </a:gs>
              </a:gsLst>
              <a:lin ang="2700000"/>
            </a:gradFill>
            <a:ln w="66675" cap="rnd">
              <a:gradFill>
                <a:gsLst>
                  <a:gs pos="0">
                    <a:srgbClr val="1880BB">
                      <a:alpha val="100000"/>
                    </a:srgbClr>
                  </a:gs>
                  <a:gs pos="100000">
                    <a:srgbClr val="E2E2E2">
                      <a:alpha val="10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691753" cy="11720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2" name="Freeform 12"/>
          <p:cNvSpPr/>
          <p:nvPr/>
        </p:nvSpPr>
        <p:spPr>
          <a:xfrm rot="-2475314">
            <a:off x="921782" y="729302"/>
            <a:ext cx="877499" cy="634990"/>
          </a:xfrm>
          <a:custGeom>
            <a:avLst/>
            <a:gdLst/>
            <a:ahLst/>
            <a:cxnLst/>
            <a:rect l="l" t="t" r="r" b="b"/>
            <a:pathLst>
              <a:path w="877499" h="634990">
                <a:moveTo>
                  <a:pt x="0" y="0"/>
                </a:moveTo>
                <a:lnTo>
                  <a:pt x="877500" y="0"/>
                </a:lnTo>
                <a:lnTo>
                  <a:pt x="877500" y="634991"/>
                </a:lnTo>
                <a:lnTo>
                  <a:pt x="0" y="63499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589788" y="3469738"/>
            <a:ext cx="8640063" cy="16592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50"/>
              </a:lnSpc>
            </a:pPr>
            <a:r>
              <a:rPr lang="en-US" sz="6450" b="1" i="1" spc="-354">
                <a:solidFill>
                  <a:srgbClr val="FFC700"/>
                </a:solidFill>
                <a:latin typeface="Montserrat Semi-Bold Italics" panose="00000700000000000000"/>
                <a:ea typeface="Montserrat Semi-Bold Italics" panose="00000700000000000000"/>
                <a:cs typeface="Montserrat Semi-Bold Italics" panose="00000700000000000000"/>
                <a:sym typeface="Montserrat Semi-Bold Italics" panose="00000700000000000000"/>
              </a:rPr>
              <a:t>PREVENTION TIPS</a:t>
            </a:r>
            <a:endParaRPr lang="en-US" sz="6450" b="1" i="1" spc="-354">
              <a:solidFill>
                <a:srgbClr val="FFC700"/>
              </a:solidFill>
              <a:latin typeface="Montserrat Semi-Bold Italics" panose="00000700000000000000"/>
              <a:ea typeface="Montserrat Semi-Bold Italics" panose="00000700000000000000"/>
              <a:cs typeface="Montserrat Semi-Bold Italics" panose="00000700000000000000"/>
              <a:sym typeface="Montserrat Semi-Bold Italics" panose="00000700000000000000"/>
            </a:endParaRPr>
          </a:p>
          <a:p>
            <a:pPr marL="0" lvl="0" indent="0" algn="ctr">
              <a:lnSpc>
                <a:spcPts val="6450"/>
              </a:lnSpc>
            </a:pPr>
          </a:p>
        </p:txBody>
      </p:sp>
      <p:sp>
        <p:nvSpPr>
          <p:cNvPr id="14" name="TextBox 14"/>
          <p:cNvSpPr txBox="1"/>
          <p:nvPr/>
        </p:nvSpPr>
        <p:spPr>
          <a:xfrm>
            <a:off x="5159579" y="5019675"/>
            <a:ext cx="8212273" cy="2738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66090" lvl="1" indent="-233045" algn="l">
              <a:lnSpc>
                <a:spcPts val="3820"/>
              </a:lnSpc>
              <a:buFont typeface="Arial" panose="020B0604020202020204"/>
              <a:buChar char="•"/>
            </a:pPr>
            <a:r>
              <a:rPr lang="en-US" sz="2160" i="1" spc="440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Avoid clicking unknown links</a:t>
            </a:r>
            <a:endParaRPr lang="en-US" sz="2160" i="1" spc="440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466090" lvl="1" indent="-233045" algn="l">
              <a:lnSpc>
                <a:spcPts val="3820"/>
              </a:lnSpc>
              <a:buFont typeface="Arial" panose="020B0604020202020204"/>
              <a:buChar char="•"/>
            </a:pPr>
            <a:r>
              <a:rPr lang="en-US" sz="2160" i="1" spc="440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Verify sender identity</a:t>
            </a:r>
            <a:endParaRPr lang="en-US" sz="2160" i="1" spc="440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466090" lvl="1" indent="-233045" algn="l">
              <a:lnSpc>
                <a:spcPts val="3820"/>
              </a:lnSpc>
              <a:buFont typeface="Arial" panose="020B0604020202020204"/>
              <a:buChar char="•"/>
            </a:pPr>
            <a:r>
              <a:rPr lang="en-US" sz="2160" i="1" spc="440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U</a:t>
            </a:r>
            <a:r>
              <a:rPr lang="en-US" sz="2160" i="1" spc="440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se strong, unique passwords</a:t>
            </a:r>
            <a:endParaRPr lang="en-US" sz="2160" i="1" spc="440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466090" lvl="1" indent="-233045" algn="l">
              <a:lnSpc>
                <a:spcPts val="3820"/>
              </a:lnSpc>
              <a:buFont typeface="Arial" panose="020B0604020202020204"/>
              <a:buChar char="•"/>
            </a:pPr>
            <a:r>
              <a:rPr lang="en-US" sz="2160" i="1" spc="440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Enable Two-Factor Authentication (2FA)</a:t>
            </a:r>
            <a:endParaRPr lang="en-US" sz="2160" i="1" spc="440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466090" lvl="1" indent="-233045" algn="l">
              <a:lnSpc>
                <a:spcPts val="3820"/>
              </a:lnSpc>
              <a:buFont typeface="Arial" panose="020B0604020202020204"/>
              <a:buChar char="•"/>
            </a:pPr>
            <a:r>
              <a:rPr lang="en-US" sz="2160" i="1" spc="440">
                <a:solidFill>
                  <a:srgbClr val="E7F2FA"/>
                </a:solidFill>
                <a:latin typeface="Montserrat Italics" panose="00000500000000000000"/>
                <a:ea typeface="Montserrat Italics" panose="00000500000000000000"/>
                <a:cs typeface="Montserrat Italics" panose="00000500000000000000"/>
                <a:sym typeface="Montserrat Italics" panose="00000500000000000000"/>
              </a:rPr>
              <a:t>Never share OTPs or credentials</a:t>
            </a:r>
            <a:endParaRPr lang="en-US" sz="2160" i="1" spc="440">
              <a:solidFill>
                <a:srgbClr val="E7F2FA"/>
              </a:solidFill>
              <a:latin typeface="Montserrat Italics" panose="00000500000000000000"/>
              <a:ea typeface="Montserrat Italics" panose="00000500000000000000"/>
              <a:cs typeface="Montserrat Italics" panose="00000500000000000000"/>
              <a:sym typeface="Montserrat Italics" panose="00000500000000000000"/>
            </a:endParaRPr>
          </a:p>
          <a:p>
            <a:pPr marL="0" lvl="0" indent="0" algn="ctr">
              <a:lnSpc>
                <a:spcPts val="2330"/>
              </a:lnSpc>
            </a:pPr>
          </a:p>
        </p:txBody>
      </p:sp>
      <p:sp>
        <p:nvSpPr>
          <p:cNvPr id="15" name="TextBox 15"/>
          <p:cNvSpPr txBox="1"/>
          <p:nvPr/>
        </p:nvSpPr>
        <p:spPr>
          <a:xfrm>
            <a:off x="1620633" y="1085850"/>
            <a:ext cx="2969155" cy="412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00"/>
              </a:lnSpc>
            </a:pPr>
            <a:r>
              <a:rPr lang="en-US" sz="3100" b="1" spc="-170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🛡️ SLIDE : 15</a:t>
            </a:r>
            <a:endParaRPr lang="en-US" sz="3100" b="1" spc="-170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2757619" y="-4718505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1"/>
                </a:lnTo>
                <a:lnTo>
                  <a:pt x="0" y="101267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905161" y="2698215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343677" y="-14081261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1" y="0"/>
                </a:lnTo>
                <a:lnTo>
                  <a:pt x="24368261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3636350" y="4360968"/>
            <a:ext cx="9696716" cy="1382492"/>
            <a:chOff x="0" y="0"/>
            <a:chExt cx="3124288" cy="44544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24288" cy="445440"/>
            </a:xfrm>
            <a:custGeom>
              <a:avLst/>
              <a:gdLst/>
              <a:ahLst/>
              <a:cxnLst/>
              <a:rect l="l" t="t" r="r" b="b"/>
              <a:pathLst>
                <a:path w="3124288" h="445440">
                  <a:moveTo>
                    <a:pt x="42316" y="0"/>
                  </a:moveTo>
                  <a:lnTo>
                    <a:pt x="3081973" y="0"/>
                  </a:lnTo>
                  <a:cubicBezTo>
                    <a:pt x="3105343" y="0"/>
                    <a:pt x="3124288" y="18945"/>
                    <a:pt x="3124288" y="42316"/>
                  </a:cubicBezTo>
                  <a:lnTo>
                    <a:pt x="3124288" y="403124"/>
                  </a:lnTo>
                  <a:cubicBezTo>
                    <a:pt x="3124288" y="426494"/>
                    <a:pt x="3105343" y="445440"/>
                    <a:pt x="3081973" y="445440"/>
                  </a:cubicBezTo>
                  <a:lnTo>
                    <a:pt x="42316" y="445440"/>
                  </a:lnTo>
                  <a:cubicBezTo>
                    <a:pt x="18945" y="445440"/>
                    <a:pt x="0" y="426494"/>
                    <a:pt x="0" y="403124"/>
                  </a:cubicBezTo>
                  <a:lnTo>
                    <a:pt x="0" y="42316"/>
                  </a:lnTo>
                  <a:cubicBezTo>
                    <a:pt x="0" y="18945"/>
                    <a:pt x="18945" y="0"/>
                    <a:pt x="42316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3A0443">
                    <a:alpha val="45000"/>
                  </a:srgbClr>
                </a:gs>
                <a:gs pos="100000">
                  <a:srgbClr val="2F0087">
                    <a:alpha val="45000"/>
                  </a:srgbClr>
                </a:gs>
              </a:gsLst>
              <a:lin ang="2700000"/>
            </a:gradFill>
            <a:ln w="66675" cap="rnd">
              <a:gradFill>
                <a:gsLst>
                  <a:gs pos="0">
                    <a:srgbClr val="1880BB">
                      <a:alpha val="45000"/>
                    </a:srgbClr>
                  </a:gs>
                  <a:gs pos="100000">
                    <a:srgbClr val="E2E2E2">
                      <a:alpha val="45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124288" cy="48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4239132" y="4826296"/>
            <a:ext cx="8233967" cy="1035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15"/>
              </a:lnSpc>
            </a:pPr>
            <a:r>
              <a:rPr lang="en-US" sz="4015" b="1" i="1" spc="-220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🎮 KNOWLEDGE CHECK</a:t>
            </a:r>
            <a:endParaRPr lang="en-US" sz="4015" b="1" i="1" spc="-220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ctr">
              <a:lnSpc>
                <a:spcPts val="4015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2475314">
            <a:off x="1123284" y="872713"/>
            <a:ext cx="826217" cy="597880"/>
          </a:xfrm>
          <a:custGeom>
            <a:avLst/>
            <a:gdLst/>
            <a:ahLst/>
            <a:cxnLst/>
            <a:rect l="l" t="t" r="r" b="b"/>
            <a:pathLst>
              <a:path w="826217" h="597880">
                <a:moveTo>
                  <a:pt x="0" y="0"/>
                </a:moveTo>
                <a:lnTo>
                  <a:pt x="826216" y="0"/>
                </a:lnTo>
                <a:lnTo>
                  <a:pt x="826216" y="597880"/>
                </a:lnTo>
                <a:lnTo>
                  <a:pt x="0" y="597880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825552" y="-12520371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3909884" flipH="1">
            <a:off x="1221932" y="-113582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3"/>
                </a:lnTo>
                <a:lnTo>
                  <a:pt x="14319658" y="14625633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5">
              <a:alphaModFix amt="32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840192" y="1228803"/>
            <a:ext cx="2969155" cy="41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45"/>
              </a:lnSpc>
            </a:pPr>
            <a:r>
              <a:rPr lang="en-US" sz="3145" b="1" spc="-172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Q&amp;A  SLIDE : 16 </a:t>
            </a:r>
            <a:endParaRPr lang="en-US" sz="3145" b="1" spc="-172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  <p:grpSp>
        <p:nvGrpSpPr>
          <p:cNvPr id="6" name="Group 6"/>
          <p:cNvGrpSpPr/>
          <p:nvPr/>
        </p:nvGrpSpPr>
        <p:grpSpPr>
          <a:xfrm rot="0">
            <a:off x="10243199" y="2494241"/>
            <a:ext cx="7016101" cy="2782851"/>
            <a:chOff x="0" y="0"/>
            <a:chExt cx="2260592" cy="89663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260592" cy="896636"/>
            </a:xfrm>
            <a:custGeom>
              <a:avLst/>
              <a:gdLst/>
              <a:ahLst/>
              <a:cxnLst/>
              <a:rect l="l" t="t" r="r" b="b"/>
              <a:pathLst>
                <a:path w="2260592" h="896636">
                  <a:moveTo>
                    <a:pt x="33104" y="0"/>
                  </a:moveTo>
                  <a:lnTo>
                    <a:pt x="2227489" y="0"/>
                  </a:lnTo>
                  <a:cubicBezTo>
                    <a:pt x="2245771" y="0"/>
                    <a:pt x="2260592" y="14821"/>
                    <a:pt x="2260592" y="33104"/>
                  </a:cubicBezTo>
                  <a:lnTo>
                    <a:pt x="2260592" y="863533"/>
                  </a:lnTo>
                  <a:cubicBezTo>
                    <a:pt x="2260592" y="881815"/>
                    <a:pt x="2245771" y="896636"/>
                    <a:pt x="2227489" y="896636"/>
                  </a:cubicBezTo>
                  <a:lnTo>
                    <a:pt x="33104" y="896636"/>
                  </a:lnTo>
                  <a:cubicBezTo>
                    <a:pt x="14821" y="896636"/>
                    <a:pt x="0" y="881815"/>
                    <a:pt x="0" y="863533"/>
                  </a:cubicBezTo>
                  <a:lnTo>
                    <a:pt x="0" y="33104"/>
                  </a:lnTo>
                  <a:cubicBezTo>
                    <a:pt x="0" y="14821"/>
                    <a:pt x="14821" y="0"/>
                    <a:pt x="33104" y="0"/>
                  </a:cubicBezTo>
                  <a:close/>
                </a:path>
              </a:pathLst>
            </a:custGeom>
            <a:solidFill>
              <a:srgbClr val="0B131B"/>
            </a:soli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260592" cy="9347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2062215" y="2494241"/>
            <a:ext cx="7636395" cy="2802798"/>
            <a:chOff x="0" y="0"/>
            <a:chExt cx="2460452" cy="90306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60452" cy="903063"/>
            </a:xfrm>
            <a:custGeom>
              <a:avLst/>
              <a:gdLst/>
              <a:ahLst/>
              <a:cxnLst/>
              <a:rect l="l" t="t" r="r" b="b"/>
              <a:pathLst>
                <a:path w="2460452" h="903063">
                  <a:moveTo>
                    <a:pt x="30415" y="0"/>
                  </a:moveTo>
                  <a:lnTo>
                    <a:pt x="2430037" y="0"/>
                  </a:lnTo>
                  <a:cubicBezTo>
                    <a:pt x="2446835" y="0"/>
                    <a:pt x="2460452" y="13617"/>
                    <a:pt x="2460452" y="30415"/>
                  </a:cubicBezTo>
                  <a:lnTo>
                    <a:pt x="2460452" y="872649"/>
                  </a:lnTo>
                  <a:cubicBezTo>
                    <a:pt x="2460452" y="880715"/>
                    <a:pt x="2457247" y="888451"/>
                    <a:pt x="2451543" y="894155"/>
                  </a:cubicBezTo>
                  <a:cubicBezTo>
                    <a:pt x="2445839" y="899859"/>
                    <a:pt x="2438104" y="903063"/>
                    <a:pt x="2430037" y="903063"/>
                  </a:cubicBezTo>
                  <a:lnTo>
                    <a:pt x="30415" y="903063"/>
                  </a:lnTo>
                  <a:cubicBezTo>
                    <a:pt x="22348" y="903063"/>
                    <a:pt x="14612" y="899859"/>
                    <a:pt x="8908" y="894155"/>
                  </a:cubicBezTo>
                  <a:cubicBezTo>
                    <a:pt x="3204" y="888451"/>
                    <a:pt x="0" y="880715"/>
                    <a:pt x="0" y="872649"/>
                  </a:cubicBezTo>
                  <a:lnTo>
                    <a:pt x="0" y="30415"/>
                  </a:lnTo>
                  <a:cubicBezTo>
                    <a:pt x="0" y="22348"/>
                    <a:pt x="3204" y="14612"/>
                    <a:pt x="8908" y="8908"/>
                  </a:cubicBezTo>
                  <a:cubicBezTo>
                    <a:pt x="14612" y="3204"/>
                    <a:pt x="22348" y="0"/>
                    <a:pt x="3041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460452" cy="941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2" name="Group 12"/>
          <p:cNvGrpSpPr/>
          <p:nvPr/>
        </p:nvGrpSpPr>
        <p:grpSpPr>
          <a:xfrm rot="0">
            <a:off x="7319788" y="5988123"/>
            <a:ext cx="5244393" cy="2782851"/>
            <a:chOff x="0" y="0"/>
            <a:chExt cx="1689747" cy="89663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89747" cy="896636"/>
            </a:xfrm>
            <a:custGeom>
              <a:avLst/>
              <a:gdLst/>
              <a:ahLst/>
              <a:cxnLst/>
              <a:rect l="l" t="t" r="r" b="b"/>
              <a:pathLst>
                <a:path w="1689747" h="896636">
                  <a:moveTo>
                    <a:pt x="44287" y="0"/>
                  </a:moveTo>
                  <a:lnTo>
                    <a:pt x="1645460" y="0"/>
                  </a:lnTo>
                  <a:cubicBezTo>
                    <a:pt x="1657206" y="0"/>
                    <a:pt x="1668470" y="4666"/>
                    <a:pt x="1676776" y="12971"/>
                  </a:cubicBezTo>
                  <a:cubicBezTo>
                    <a:pt x="1685081" y="21277"/>
                    <a:pt x="1689747" y="32541"/>
                    <a:pt x="1689747" y="44287"/>
                  </a:cubicBezTo>
                  <a:lnTo>
                    <a:pt x="1689747" y="852350"/>
                  </a:lnTo>
                  <a:cubicBezTo>
                    <a:pt x="1689747" y="876808"/>
                    <a:pt x="1669919" y="896636"/>
                    <a:pt x="1645460" y="896636"/>
                  </a:cubicBezTo>
                  <a:lnTo>
                    <a:pt x="44287" y="896636"/>
                  </a:lnTo>
                  <a:cubicBezTo>
                    <a:pt x="19828" y="896636"/>
                    <a:pt x="0" y="876808"/>
                    <a:pt x="0" y="852350"/>
                  </a:cubicBezTo>
                  <a:lnTo>
                    <a:pt x="0" y="44287"/>
                  </a:lnTo>
                  <a:cubicBezTo>
                    <a:pt x="0" y="19828"/>
                    <a:pt x="19828" y="0"/>
                    <a:pt x="44287" y="0"/>
                  </a:cubicBezTo>
                  <a:close/>
                </a:path>
              </a:pathLst>
            </a:custGeom>
            <a:solidFill>
              <a:srgbClr val="E7F2FA"/>
            </a:soli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689747" cy="9347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id="15" name="Group 15"/>
          <p:cNvGrpSpPr/>
          <p:nvPr/>
        </p:nvGrpSpPr>
        <p:grpSpPr>
          <a:xfrm rot="0">
            <a:off x="885463" y="6125714"/>
            <a:ext cx="5731255" cy="2782851"/>
            <a:chOff x="0" y="0"/>
            <a:chExt cx="1846614" cy="89663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846614" cy="896636"/>
            </a:xfrm>
            <a:custGeom>
              <a:avLst/>
              <a:gdLst/>
              <a:ahLst/>
              <a:cxnLst/>
              <a:rect l="l" t="t" r="r" b="b"/>
              <a:pathLst>
                <a:path w="1846614" h="896636">
                  <a:moveTo>
                    <a:pt x="40525" y="0"/>
                  </a:moveTo>
                  <a:lnTo>
                    <a:pt x="1806090" y="0"/>
                  </a:lnTo>
                  <a:cubicBezTo>
                    <a:pt x="1828471" y="0"/>
                    <a:pt x="1846614" y="18144"/>
                    <a:pt x="1846614" y="40525"/>
                  </a:cubicBezTo>
                  <a:lnTo>
                    <a:pt x="1846614" y="856112"/>
                  </a:lnTo>
                  <a:cubicBezTo>
                    <a:pt x="1846614" y="878493"/>
                    <a:pt x="1828471" y="896636"/>
                    <a:pt x="1806090" y="896636"/>
                  </a:cubicBezTo>
                  <a:lnTo>
                    <a:pt x="40525" y="896636"/>
                  </a:lnTo>
                  <a:cubicBezTo>
                    <a:pt x="18144" y="896636"/>
                    <a:pt x="0" y="878493"/>
                    <a:pt x="0" y="856112"/>
                  </a:cubicBezTo>
                  <a:lnTo>
                    <a:pt x="0" y="40525"/>
                  </a:lnTo>
                  <a:cubicBezTo>
                    <a:pt x="0" y="18144"/>
                    <a:pt x="18144" y="0"/>
                    <a:pt x="40525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846614" cy="9347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28700" y="6316214"/>
            <a:ext cx="6042378" cy="401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3055" b="1" spc="-168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Someone requests your OTP ?</a:t>
            </a:r>
            <a:endParaRPr lang="en-US" sz="3055" b="1" spc="-168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255880" y="7047186"/>
            <a:ext cx="5588018" cy="1102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50"/>
              </a:lnSpc>
            </a:pPr>
            <a:r>
              <a:rPr lang="en-US" sz="3160" b="1" i="1" spc="-17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A) Share it</a:t>
            </a:r>
            <a:endParaRPr lang="en-US" sz="3160" b="1" i="1" spc="-173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l">
              <a:lnSpc>
                <a:spcPts val="4790"/>
              </a:lnSpc>
            </a:pPr>
            <a:r>
              <a:rPr lang="en-US" sz="3835" b="1" i="1" spc="-210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B) Refuse</a:t>
            </a:r>
            <a:endParaRPr lang="en-US" sz="3835" b="1" i="1" spc="-210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2219172" y="2620334"/>
            <a:ext cx="6444379" cy="3012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lang="en-US" sz="2435" b="1" i="1" spc="-13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An email says: </a:t>
            </a:r>
            <a:r>
              <a:rPr lang="en-US" sz="2435" b="1" i="1" spc="-13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Your account will be suspended immediately.”</a:t>
            </a:r>
            <a:endParaRPr lang="en-US" sz="2435" b="1" i="1" spc="-133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l">
              <a:lnSpc>
                <a:spcPts val="2670"/>
              </a:lnSpc>
            </a:pPr>
          </a:p>
          <a:p>
            <a:pPr algn="l">
              <a:lnSpc>
                <a:spcPts val="2920"/>
              </a:lnSpc>
            </a:pPr>
            <a:r>
              <a:rPr lang="en-US" sz="2335" b="1" i="1" spc="-128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Is this:</a:t>
            </a:r>
            <a:endParaRPr lang="en-US" sz="2335" b="1" i="1" spc="-128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l">
              <a:lnSpc>
                <a:spcPts val="2670"/>
              </a:lnSpc>
            </a:pPr>
          </a:p>
          <a:p>
            <a:pPr algn="l">
              <a:lnSpc>
                <a:spcPts val="3295"/>
              </a:lnSpc>
            </a:pPr>
            <a:r>
              <a:rPr lang="en-US" sz="2635" b="1" i="1" spc="-144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A) Safe</a:t>
            </a:r>
            <a:endParaRPr lang="en-US" sz="2635" b="1" i="1" spc="-144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l">
              <a:lnSpc>
                <a:spcPts val="3295"/>
              </a:lnSpc>
            </a:pPr>
            <a:r>
              <a:rPr lang="en-US" sz="2635" b="1" i="1" spc="-144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B) Suspicious</a:t>
            </a:r>
            <a:endParaRPr lang="en-US" sz="2635" b="1" i="1" spc="-144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l">
              <a:lnSpc>
                <a:spcPts val="3295"/>
              </a:lnSpc>
            </a:pPr>
          </a:p>
        </p:txBody>
      </p:sp>
      <p:sp>
        <p:nvSpPr>
          <p:cNvPr id="21" name="TextBox 21"/>
          <p:cNvSpPr txBox="1"/>
          <p:nvPr/>
        </p:nvSpPr>
        <p:spPr>
          <a:xfrm>
            <a:off x="10691740" y="2687009"/>
            <a:ext cx="5364580" cy="423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sz="3185" b="1" i="1" spc="-175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Which link is legitimate?</a:t>
            </a:r>
            <a:endParaRPr lang="en-US" sz="3185" b="1" i="1" spc="-175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0714406" y="3546975"/>
            <a:ext cx="5092353" cy="9246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45"/>
              </a:lnSpc>
            </a:pPr>
            <a:r>
              <a:rPr lang="en-US" sz="2755" b="1" i="1" spc="-151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A) paytm-secure-login.xyz</a:t>
            </a:r>
            <a:endParaRPr lang="en-US" sz="2755" b="1" i="1" spc="-151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l">
              <a:lnSpc>
                <a:spcPts val="3905"/>
              </a:lnSpc>
            </a:pPr>
            <a:r>
              <a:rPr lang="en-US" sz="3125" b="1" i="1" spc="-171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B) </a:t>
            </a:r>
            <a:r>
              <a:rPr lang="en-US" sz="3125" b="1" i="1" u="sng" spc="-171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  <a:hlinkClick r:id="rId7" tooltip="https://paytm.com"/>
              </a:rPr>
              <a:t>https://paytm.com</a:t>
            </a:r>
            <a:endParaRPr lang="en-US" sz="3125" b="1" i="1" u="sng" spc="-171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  <a:hlinkClick r:id="rId7" tooltip="https://paytm.co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878688" y="6242463"/>
            <a:ext cx="8705087" cy="823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80"/>
              </a:lnSpc>
            </a:pPr>
            <a:r>
              <a:rPr lang="en-US" sz="3180" b="1" i="1" u="sng" spc="-175">
                <a:solidFill>
                  <a:srgbClr val="0B131B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Assessment Result </a:t>
            </a:r>
            <a:r>
              <a:rPr lang="en-US" sz="3180" b="1" i="1" u="sng" spc="-175">
                <a:solidFill>
                  <a:srgbClr val="0B131B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🏆</a:t>
            </a:r>
            <a:endParaRPr lang="en-US" sz="3180" b="1" i="1" u="sng" spc="-175">
              <a:solidFill>
                <a:srgbClr val="0B131B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l">
              <a:lnSpc>
                <a:spcPts val="3180"/>
              </a:lnSpc>
            </a:pPr>
          </a:p>
        </p:txBody>
      </p:sp>
      <p:sp>
        <p:nvSpPr>
          <p:cNvPr id="24" name="TextBox 24"/>
          <p:cNvSpPr txBox="1"/>
          <p:nvPr/>
        </p:nvSpPr>
        <p:spPr>
          <a:xfrm>
            <a:off x="7652737" y="7047186"/>
            <a:ext cx="4578494" cy="1671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89585" lvl="1" indent="-245110" algn="l">
              <a:lnSpc>
                <a:spcPts val="2835"/>
              </a:lnSpc>
              <a:buFont typeface="Arial" panose="020B0604020202020204"/>
              <a:buChar char="•"/>
            </a:pPr>
            <a:r>
              <a:rPr lang="en-US" sz="2265" b="1" i="1" spc="-124">
                <a:solidFill>
                  <a:srgbClr val="0B131B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3 Correct → Good Awareness</a:t>
            </a:r>
            <a:endParaRPr lang="en-US" sz="2265" b="1" i="1" spc="-124">
              <a:solidFill>
                <a:srgbClr val="0B131B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489585" lvl="1" indent="-245110" algn="l">
              <a:lnSpc>
                <a:spcPts val="2835"/>
              </a:lnSpc>
              <a:buFont typeface="Arial" panose="020B0604020202020204"/>
              <a:buChar char="•"/>
            </a:pPr>
            <a:r>
              <a:rPr lang="en-US" sz="2265" b="1" i="1" spc="-124">
                <a:solidFill>
                  <a:srgbClr val="0B131B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2 Correct → Needs Improvement</a:t>
            </a:r>
            <a:endParaRPr lang="en-US" sz="2265" b="1" i="1" spc="-124">
              <a:solidFill>
                <a:srgbClr val="0B131B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489585" lvl="1" indent="-245110" algn="l">
              <a:lnSpc>
                <a:spcPts val="2835"/>
              </a:lnSpc>
              <a:buFont typeface="Arial" panose="020B0604020202020204"/>
              <a:buChar char="•"/>
            </a:pPr>
            <a:r>
              <a:rPr lang="en-US" sz="2265" b="1" i="1" spc="-124">
                <a:solidFill>
                  <a:srgbClr val="0B131B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0–1 Correct → High Risk</a:t>
            </a:r>
            <a:endParaRPr lang="en-US" sz="2265" b="1" i="1" spc="-124">
              <a:solidFill>
                <a:srgbClr val="0B131B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marL="0" lvl="0" indent="0" algn="l">
              <a:lnSpc>
                <a:spcPts val="1950"/>
              </a:lnSpc>
            </a:pPr>
          </a:p>
        </p:txBody>
      </p:sp>
      <p:sp>
        <p:nvSpPr>
          <p:cNvPr id="25" name="TextBox 25"/>
          <p:cNvSpPr txBox="1"/>
          <p:nvPr/>
        </p:nvSpPr>
        <p:spPr>
          <a:xfrm>
            <a:off x="14359211" y="5562178"/>
            <a:ext cx="2900089" cy="38519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6240"/>
              </a:lnSpc>
            </a:pPr>
            <a:r>
              <a:rPr lang="en-US" sz="3900" b="1" i="1" u="sng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Answers</a:t>
            </a:r>
            <a:r>
              <a:rPr lang="en-US" sz="3900" b="1" i="1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 </a:t>
            </a:r>
            <a:endParaRPr lang="en-US" sz="3900" b="1" i="1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just">
              <a:lnSpc>
                <a:spcPts val="6240"/>
              </a:lnSpc>
            </a:pPr>
            <a:r>
              <a:rPr lang="en-US" sz="3900" b="1" i="1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1.  B</a:t>
            </a:r>
            <a:endParaRPr lang="en-US" sz="3900" b="1" i="1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just">
              <a:lnSpc>
                <a:spcPts val="6240"/>
              </a:lnSpc>
            </a:pPr>
            <a:r>
              <a:rPr lang="en-US" sz="3900" b="1" i="1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2 . B</a:t>
            </a:r>
            <a:endParaRPr lang="en-US" sz="3900" b="1" i="1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just">
              <a:lnSpc>
                <a:spcPts val="6240"/>
              </a:lnSpc>
            </a:pPr>
            <a:r>
              <a:rPr lang="en-US" sz="3900" b="1" i="1">
                <a:solidFill>
                  <a:srgbClr val="FFC700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3 . B</a:t>
            </a:r>
            <a:endParaRPr lang="en-US" sz="3900" b="1" i="1">
              <a:solidFill>
                <a:srgbClr val="FFC700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ctr">
              <a:lnSpc>
                <a:spcPts val="546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11350372" y="-14131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8" y="0"/>
                </a:moveTo>
                <a:lnTo>
                  <a:pt x="0" y="0"/>
                </a:lnTo>
                <a:lnTo>
                  <a:pt x="0" y="14625634"/>
                </a:lnTo>
                <a:lnTo>
                  <a:pt x="14319658" y="14625634"/>
                </a:lnTo>
                <a:lnTo>
                  <a:pt x="14319658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2036157">
            <a:off x="-3151065" y="-4804991"/>
            <a:ext cx="13558802" cy="10126730"/>
          </a:xfrm>
          <a:custGeom>
            <a:avLst/>
            <a:gdLst/>
            <a:ahLst/>
            <a:cxnLst/>
            <a:rect l="l" t="t" r="r" b="b"/>
            <a:pathLst>
              <a:path w="13558802" h="10126730">
                <a:moveTo>
                  <a:pt x="0" y="0"/>
                </a:moveTo>
                <a:lnTo>
                  <a:pt x="13558802" y="0"/>
                </a:lnTo>
                <a:lnTo>
                  <a:pt x="13558802" y="10126730"/>
                </a:lnTo>
                <a:lnTo>
                  <a:pt x="0" y="101267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43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0416937" y="6471394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3411088" y="-19497598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1"/>
                </a:lnTo>
                <a:lnTo>
                  <a:pt x="0" y="2436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 rot="0">
            <a:off x="4589788" y="2862044"/>
            <a:ext cx="9108424" cy="5581675"/>
            <a:chOff x="0" y="0"/>
            <a:chExt cx="2934740" cy="179841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934740" cy="1798419"/>
            </a:xfrm>
            <a:custGeom>
              <a:avLst/>
              <a:gdLst/>
              <a:ahLst/>
              <a:cxnLst/>
              <a:rect l="l" t="t" r="r" b="b"/>
              <a:pathLst>
                <a:path w="2934740" h="1798419">
                  <a:moveTo>
                    <a:pt x="45049" y="0"/>
                  </a:moveTo>
                  <a:lnTo>
                    <a:pt x="2889692" y="0"/>
                  </a:lnTo>
                  <a:cubicBezTo>
                    <a:pt x="2914571" y="0"/>
                    <a:pt x="2934740" y="20169"/>
                    <a:pt x="2934740" y="45049"/>
                  </a:cubicBezTo>
                  <a:lnTo>
                    <a:pt x="2934740" y="1753371"/>
                  </a:lnTo>
                  <a:cubicBezTo>
                    <a:pt x="2934740" y="1778250"/>
                    <a:pt x="2914571" y="1798419"/>
                    <a:pt x="2889692" y="1798419"/>
                  </a:cubicBezTo>
                  <a:lnTo>
                    <a:pt x="45049" y="1798419"/>
                  </a:lnTo>
                  <a:cubicBezTo>
                    <a:pt x="20169" y="1798419"/>
                    <a:pt x="0" y="1778250"/>
                    <a:pt x="0" y="1753371"/>
                  </a:cubicBezTo>
                  <a:lnTo>
                    <a:pt x="0" y="45049"/>
                  </a:lnTo>
                  <a:cubicBezTo>
                    <a:pt x="0" y="20169"/>
                    <a:pt x="20169" y="0"/>
                    <a:pt x="45049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934740" cy="183651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grpSp>
        <p:nvGrpSpPr>
          <p:cNvPr id="9" name="Group 9"/>
          <p:cNvGrpSpPr/>
          <p:nvPr/>
        </p:nvGrpSpPr>
        <p:grpSpPr>
          <a:xfrm rot="0">
            <a:off x="5159579" y="4318982"/>
            <a:ext cx="7745697" cy="3491181"/>
            <a:chOff x="0" y="0"/>
            <a:chExt cx="2495669" cy="112486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95669" cy="1124861"/>
            </a:xfrm>
            <a:custGeom>
              <a:avLst/>
              <a:gdLst/>
              <a:ahLst/>
              <a:cxnLst/>
              <a:rect l="l" t="t" r="r" b="b"/>
              <a:pathLst>
                <a:path w="2495669" h="1124861">
                  <a:moveTo>
                    <a:pt x="99951" y="0"/>
                  </a:moveTo>
                  <a:lnTo>
                    <a:pt x="2395718" y="0"/>
                  </a:lnTo>
                  <a:cubicBezTo>
                    <a:pt x="2422226" y="0"/>
                    <a:pt x="2447649" y="10531"/>
                    <a:pt x="2466394" y="29275"/>
                  </a:cubicBezTo>
                  <a:cubicBezTo>
                    <a:pt x="2485138" y="48020"/>
                    <a:pt x="2495669" y="73443"/>
                    <a:pt x="2495669" y="99951"/>
                  </a:cubicBezTo>
                  <a:lnTo>
                    <a:pt x="2495669" y="1024909"/>
                  </a:lnTo>
                  <a:cubicBezTo>
                    <a:pt x="2495669" y="1051418"/>
                    <a:pt x="2485138" y="1076841"/>
                    <a:pt x="2466394" y="1095586"/>
                  </a:cubicBezTo>
                  <a:cubicBezTo>
                    <a:pt x="2447649" y="1114330"/>
                    <a:pt x="2422226" y="1124861"/>
                    <a:pt x="2395718" y="1124861"/>
                  </a:cubicBezTo>
                  <a:lnTo>
                    <a:pt x="99951" y="1124861"/>
                  </a:lnTo>
                  <a:cubicBezTo>
                    <a:pt x="73443" y="1124861"/>
                    <a:pt x="48020" y="1114330"/>
                    <a:pt x="29275" y="1095586"/>
                  </a:cubicBezTo>
                  <a:cubicBezTo>
                    <a:pt x="10531" y="1076841"/>
                    <a:pt x="0" y="1051418"/>
                    <a:pt x="0" y="1024909"/>
                  </a:cubicBezTo>
                  <a:lnTo>
                    <a:pt x="0" y="99951"/>
                  </a:lnTo>
                  <a:cubicBezTo>
                    <a:pt x="0" y="73443"/>
                    <a:pt x="10531" y="48020"/>
                    <a:pt x="29275" y="29275"/>
                  </a:cubicBezTo>
                  <a:cubicBezTo>
                    <a:pt x="48020" y="10531"/>
                    <a:pt x="73443" y="0"/>
                    <a:pt x="9995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F2854">
                    <a:alpha val="100000"/>
                  </a:srgbClr>
                </a:gs>
                <a:gs pos="100000">
                  <a:srgbClr val="5961E1">
                    <a:alpha val="100000"/>
                  </a:srgbClr>
                </a:gs>
              </a:gsLst>
              <a:lin ang="2700000"/>
            </a:gradFill>
            <a:ln w="19050" cap="rnd">
              <a:solidFill>
                <a:srgbClr val="E7F2FA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495669" cy="116296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sp>
        <p:nvSpPr>
          <p:cNvPr id="12" name="Freeform 12"/>
          <p:cNvSpPr/>
          <p:nvPr/>
        </p:nvSpPr>
        <p:spPr>
          <a:xfrm rot="-2475314">
            <a:off x="950232" y="772398"/>
            <a:ext cx="862761" cy="624326"/>
          </a:xfrm>
          <a:custGeom>
            <a:avLst/>
            <a:gdLst/>
            <a:ahLst/>
            <a:cxnLst/>
            <a:rect l="l" t="t" r="r" b="b"/>
            <a:pathLst>
              <a:path w="862761" h="624326">
                <a:moveTo>
                  <a:pt x="0" y="0"/>
                </a:moveTo>
                <a:lnTo>
                  <a:pt x="862762" y="0"/>
                </a:lnTo>
                <a:lnTo>
                  <a:pt x="862762" y="624326"/>
                </a:lnTo>
                <a:lnTo>
                  <a:pt x="0" y="62432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5008876" y="3376771"/>
            <a:ext cx="8270249" cy="9422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095"/>
              </a:lnSpc>
            </a:pPr>
            <a:r>
              <a:rPr lang="en-US" sz="7095" b="1" i="1" spc="-390">
                <a:solidFill>
                  <a:srgbClr val="FFDE59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KEY TAKEAWAYS</a:t>
            </a:r>
            <a:endParaRPr lang="en-US" sz="7095" b="1" i="1" spc="-390">
              <a:solidFill>
                <a:srgbClr val="FFDE59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159579" y="4777753"/>
            <a:ext cx="7745697" cy="3741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71830" lvl="1" indent="-335915" algn="l">
              <a:lnSpc>
                <a:spcPts val="3330"/>
              </a:lnSpc>
              <a:buFont typeface="Arial" panose="020B0604020202020204"/>
              <a:buChar char="•"/>
            </a:pPr>
            <a:r>
              <a:rPr lang="en-US" sz="3110" b="1" i="1" spc="-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Always verify before trusting</a:t>
            </a:r>
            <a:endParaRPr lang="en-US" sz="3110" b="1" i="1" spc="-3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ctr">
              <a:lnSpc>
                <a:spcPts val="3330"/>
              </a:lnSpc>
            </a:pPr>
          </a:p>
          <a:p>
            <a:pPr marL="671830" lvl="1" indent="-335915" algn="l">
              <a:lnSpc>
                <a:spcPts val="3330"/>
              </a:lnSpc>
              <a:buFont typeface="Arial" panose="020B0604020202020204"/>
              <a:buChar char="•"/>
            </a:pPr>
            <a:r>
              <a:rPr lang="en-US" sz="3110" b="1" i="1" spc="-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Be cautious of urgency and fear tactics</a:t>
            </a:r>
            <a:endParaRPr lang="en-US" sz="3110" b="1" i="1" spc="-3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ctr">
              <a:lnSpc>
                <a:spcPts val="3330"/>
              </a:lnSpc>
            </a:pPr>
          </a:p>
          <a:p>
            <a:pPr marL="671830" lvl="1" indent="-335915" algn="l">
              <a:lnSpc>
                <a:spcPts val="3330"/>
              </a:lnSpc>
              <a:buFont typeface="Arial" panose="020B0604020202020204"/>
              <a:buChar char="•"/>
            </a:pPr>
            <a:r>
              <a:rPr lang="en-US" sz="3110" b="1" i="1" spc="-3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Cybersecurity awareness is essential</a:t>
            </a:r>
            <a:endParaRPr lang="en-US" sz="3110" b="1" i="1" spc="-3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  <a:p>
            <a:pPr algn="ctr">
              <a:lnSpc>
                <a:spcPts val="3110"/>
              </a:lnSpc>
            </a:pPr>
          </a:p>
          <a:p>
            <a:pPr marL="0" lvl="0" indent="0" algn="ctr">
              <a:lnSpc>
                <a:spcPts val="3110"/>
              </a:lnSpc>
            </a:pPr>
          </a:p>
        </p:txBody>
      </p:sp>
      <p:sp>
        <p:nvSpPr>
          <p:cNvPr id="15" name="TextBox 15"/>
          <p:cNvSpPr txBox="1"/>
          <p:nvPr/>
        </p:nvSpPr>
        <p:spPr>
          <a:xfrm>
            <a:off x="1620633" y="1140707"/>
            <a:ext cx="2969155" cy="412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00"/>
              </a:lnSpc>
            </a:pPr>
            <a:r>
              <a:rPr lang="en-US" sz="3100" b="1" spc="-170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🧠 SLIDE :17</a:t>
            </a:r>
            <a:endParaRPr lang="en-US" sz="3100" b="1" spc="-170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3909884" flipH="1">
            <a:off x="-1982581" y="-347858"/>
            <a:ext cx="14319658" cy="14625633"/>
          </a:xfrm>
          <a:custGeom>
            <a:avLst/>
            <a:gdLst/>
            <a:ahLst/>
            <a:cxnLst/>
            <a:rect l="l" t="t" r="r" b="b"/>
            <a:pathLst>
              <a:path w="14319658" h="14625633">
                <a:moveTo>
                  <a:pt x="14319657" y="0"/>
                </a:moveTo>
                <a:lnTo>
                  <a:pt x="0" y="0"/>
                </a:lnTo>
                <a:lnTo>
                  <a:pt x="0" y="14625633"/>
                </a:lnTo>
                <a:lnTo>
                  <a:pt x="14319657" y="14625633"/>
                </a:lnTo>
                <a:lnTo>
                  <a:pt x="14319657" y="0"/>
                </a:lnTo>
                <a:close/>
              </a:path>
            </a:pathLst>
          </a:custGeom>
          <a:blipFill>
            <a:blip r:embed="rId1">
              <a:alphaModFix amt="76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64168">
            <a:off x="6670063" y="-2715093"/>
            <a:ext cx="23235874" cy="21039028"/>
          </a:xfrm>
          <a:custGeom>
            <a:avLst/>
            <a:gdLst/>
            <a:ahLst/>
            <a:cxnLst/>
            <a:rect l="l" t="t" r="r" b="b"/>
            <a:pathLst>
              <a:path w="23235874" h="21039028">
                <a:moveTo>
                  <a:pt x="0" y="0"/>
                </a:moveTo>
                <a:lnTo>
                  <a:pt x="23235874" y="0"/>
                </a:lnTo>
                <a:lnTo>
                  <a:pt x="23235874" y="21039027"/>
                </a:lnTo>
                <a:lnTo>
                  <a:pt x="0" y="210390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38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3803731" y="2170782"/>
            <a:ext cx="24368261" cy="24368261"/>
          </a:xfrm>
          <a:custGeom>
            <a:avLst/>
            <a:gdLst/>
            <a:ahLst/>
            <a:cxnLst/>
            <a:rect l="l" t="t" r="r" b="b"/>
            <a:pathLst>
              <a:path w="24368261" h="24368261">
                <a:moveTo>
                  <a:pt x="0" y="0"/>
                </a:moveTo>
                <a:lnTo>
                  <a:pt x="24368260" y="0"/>
                </a:lnTo>
                <a:lnTo>
                  <a:pt x="24368260" y="24368260"/>
                </a:lnTo>
                <a:lnTo>
                  <a:pt x="0" y="2436826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 rot="0">
            <a:off x="4128782" y="3281470"/>
            <a:ext cx="10157992" cy="2625817"/>
            <a:chOff x="0" y="0"/>
            <a:chExt cx="3272912" cy="8460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72911" cy="846040"/>
            </a:xfrm>
            <a:custGeom>
              <a:avLst/>
              <a:gdLst/>
              <a:ahLst/>
              <a:cxnLst/>
              <a:rect l="l" t="t" r="r" b="b"/>
              <a:pathLst>
                <a:path w="3272911" h="846040">
                  <a:moveTo>
                    <a:pt x="40394" y="0"/>
                  </a:moveTo>
                  <a:lnTo>
                    <a:pt x="3232517" y="0"/>
                  </a:lnTo>
                  <a:cubicBezTo>
                    <a:pt x="3243231" y="0"/>
                    <a:pt x="3253505" y="4256"/>
                    <a:pt x="3261080" y="11831"/>
                  </a:cubicBezTo>
                  <a:cubicBezTo>
                    <a:pt x="3268656" y="19406"/>
                    <a:pt x="3272911" y="29681"/>
                    <a:pt x="3272911" y="40394"/>
                  </a:cubicBezTo>
                  <a:lnTo>
                    <a:pt x="3272911" y="805646"/>
                  </a:lnTo>
                  <a:cubicBezTo>
                    <a:pt x="3272911" y="816359"/>
                    <a:pt x="3268656" y="826633"/>
                    <a:pt x="3261080" y="834209"/>
                  </a:cubicBezTo>
                  <a:cubicBezTo>
                    <a:pt x="3253505" y="841784"/>
                    <a:pt x="3243231" y="846040"/>
                    <a:pt x="3232517" y="846040"/>
                  </a:cubicBezTo>
                  <a:lnTo>
                    <a:pt x="40394" y="846040"/>
                  </a:lnTo>
                  <a:cubicBezTo>
                    <a:pt x="29681" y="846040"/>
                    <a:pt x="19406" y="841784"/>
                    <a:pt x="11831" y="834209"/>
                  </a:cubicBezTo>
                  <a:cubicBezTo>
                    <a:pt x="4256" y="826633"/>
                    <a:pt x="0" y="816359"/>
                    <a:pt x="0" y="805646"/>
                  </a:cubicBezTo>
                  <a:lnTo>
                    <a:pt x="0" y="40394"/>
                  </a:lnTo>
                  <a:cubicBezTo>
                    <a:pt x="0" y="29681"/>
                    <a:pt x="4256" y="19406"/>
                    <a:pt x="11831" y="11831"/>
                  </a:cubicBezTo>
                  <a:cubicBezTo>
                    <a:pt x="19406" y="4256"/>
                    <a:pt x="29681" y="0"/>
                    <a:pt x="40394" y="0"/>
                  </a:cubicBezTo>
                  <a:close/>
                </a:path>
              </a:pathLst>
            </a:custGeom>
            <a:solidFill>
              <a:srgbClr val="2D3677">
                <a:alpha val="44706"/>
              </a:srgbClr>
            </a:solidFill>
            <a:ln w="38100" cap="rnd">
              <a:solidFill>
                <a:srgbClr val="E7F2FA">
                  <a:alpha val="44706"/>
                </a:srgbClr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272912" cy="8841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60"/>
                </a:lnSpc>
              </a:pPr>
            </a:p>
          </p:txBody>
        </p:sp>
      </p:grpSp>
      <p:sp>
        <p:nvSpPr>
          <p:cNvPr id="8" name="Freeform 8"/>
          <p:cNvSpPr/>
          <p:nvPr/>
        </p:nvSpPr>
        <p:spPr>
          <a:xfrm rot="-2475314">
            <a:off x="1017396" y="745730"/>
            <a:ext cx="837604" cy="606121"/>
          </a:xfrm>
          <a:custGeom>
            <a:avLst/>
            <a:gdLst/>
            <a:ahLst/>
            <a:cxnLst/>
            <a:rect l="l" t="t" r="r" b="b"/>
            <a:pathLst>
              <a:path w="837604" h="606121">
                <a:moveTo>
                  <a:pt x="0" y="0"/>
                </a:moveTo>
                <a:lnTo>
                  <a:pt x="837604" y="0"/>
                </a:lnTo>
                <a:lnTo>
                  <a:pt x="837604" y="606121"/>
                </a:lnTo>
                <a:lnTo>
                  <a:pt x="0" y="6061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5049049" y="4046241"/>
            <a:ext cx="9237725" cy="671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50"/>
              </a:lnSpc>
            </a:pPr>
            <a:r>
              <a:rPr lang="en-US" sz="5050" b="1" i="1" u="sng" spc="-277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STAY SAFE. STAY AWARE.</a:t>
            </a:r>
            <a:r>
              <a:rPr lang="en-US" sz="5050" b="1" i="1" u="sng" spc="-277">
                <a:solidFill>
                  <a:srgbClr val="E7F2FA"/>
                </a:solidFill>
                <a:latin typeface="Montserrat Bold Italics" panose="00000800000000000000"/>
                <a:ea typeface="Montserrat Bold Italics" panose="00000800000000000000"/>
                <a:cs typeface="Montserrat Bold Italics" panose="00000800000000000000"/>
                <a:sym typeface="Montserrat Bold Italics" panose="00000800000000000000"/>
              </a:rPr>
              <a:t> 🔐</a:t>
            </a:r>
            <a:endParaRPr lang="en-US" sz="5050" b="1" i="1" u="sng" spc="-277">
              <a:solidFill>
                <a:srgbClr val="E7F2FA"/>
              </a:solidFill>
              <a:latin typeface="Montserrat Bold Italics" panose="00000800000000000000"/>
              <a:ea typeface="Montserrat Bold Italics" panose="00000800000000000000"/>
              <a:cs typeface="Montserrat Bold Italics" panose="00000800000000000000"/>
              <a:sym typeface="Montserrat Bold Italics" panose="0000080000000000000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672313" y="1171822"/>
            <a:ext cx="2969155" cy="3809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00"/>
              </a:lnSpc>
            </a:pPr>
            <a:r>
              <a:rPr lang="en-US" sz="3000" b="1" spc="-164">
                <a:solidFill>
                  <a:srgbClr val="E7F2FA"/>
                </a:solidFill>
                <a:latin typeface="Montserrat Bold" panose="00000800000000000000"/>
                <a:ea typeface="Montserrat Bold" panose="00000800000000000000"/>
                <a:cs typeface="Montserrat Bold" panose="00000800000000000000"/>
                <a:sym typeface="Montserrat Bold" panose="00000800000000000000"/>
              </a:rPr>
              <a:t>🎉 SLIDE :17</a:t>
            </a:r>
            <a:endParaRPr lang="en-US" sz="3000" b="1" spc="-164">
              <a:solidFill>
                <a:srgbClr val="E7F2FA"/>
              </a:solidFill>
              <a:latin typeface="Montserrat Bold" panose="00000800000000000000"/>
              <a:ea typeface="Montserrat Bold" panose="00000800000000000000"/>
              <a:cs typeface="Montserrat Bold" panose="00000800000000000000"/>
              <a:sym typeface="Montserrat Bold" panose="00000800000000000000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3926030" y="1811284"/>
            <a:ext cx="10488942" cy="122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05"/>
              </a:lnSpc>
              <a:spcBef>
                <a:spcPct val="0"/>
              </a:spcBef>
            </a:pPr>
            <a:r>
              <a:rPr lang="en-US" sz="7840" spc="-431">
                <a:solidFill>
                  <a:srgbClr val="5CE1E6"/>
                </a:solidFill>
                <a:latin typeface="VAG Rounded Next Shine" panose="04020805020F02030202"/>
                <a:ea typeface="VAG Rounded Next Shine" panose="04020805020F02030202"/>
                <a:cs typeface="VAG Rounded Next Shine" panose="04020805020F02030202"/>
                <a:sym typeface="VAG Rounded Next Shine" panose="04020805020F02030202"/>
              </a:rPr>
              <a:t>Thank You</a:t>
            </a:r>
            <a:endParaRPr lang="en-US" sz="7840" spc="-431">
              <a:solidFill>
                <a:srgbClr val="5CE1E6"/>
              </a:solidFill>
              <a:latin typeface="VAG Rounded Next Shine" panose="04020805020F02030202"/>
              <a:ea typeface="VAG Rounded Next Shine" panose="04020805020F02030202"/>
              <a:cs typeface="VAG Rounded Next Shine" panose="04020805020F02030202"/>
              <a:sym typeface="VAG Rounded Next Shine" panose="04020805020F0203020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3455</Words>
  <Application>WPS Presentation</Application>
  <PresentationFormat>On-screen Show (4:3)</PresentationFormat>
  <Paragraphs>257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0" baseType="lpstr">
      <vt:lpstr>Arial</vt:lpstr>
      <vt:lpstr>SimSun</vt:lpstr>
      <vt:lpstr>Wingdings</vt:lpstr>
      <vt:lpstr>VAG Rounded Next Shine</vt:lpstr>
      <vt:lpstr>Palm Club</vt:lpstr>
      <vt:lpstr>Montserrat Bold Italics</vt:lpstr>
      <vt:lpstr>Gladiola</vt:lpstr>
      <vt:lpstr>Montserrat Bold</vt:lpstr>
      <vt:lpstr>Roca One Heavy Italics</vt:lpstr>
      <vt:lpstr>Roca One Heavy</vt:lpstr>
      <vt:lpstr>Montserrat Semi-Bold Italics</vt:lpstr>
      <vt:lpstr>Montserrat Italics</vt:lpstr>
      <vt:lpstr>Arial</vt:lpstr>
      <vt:lpstr>Montserrat Semi-Bold</vt:lpstr>
      <vt:lpstr>Montserrat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Security</dc:title>
  <dc:creator/>
  <cp:lastModifiedBy>Gokul Knairnair</cp:lastModifiedBy>
  <cp:revision>2</cp:revision>
  <dcterms:created xsi:type="dcterms:W3CDTF">2006-08-16T00:00:00Z</dcterms:created>
  <dcterms:modified xsi:type="dcterms:W3CDTF">2026-05-22T06:41:14Z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1D65B0345FAB4DA6A6A793A744DD63DE_12</vt:lpwstr>
  </property>
  <property fmtid="{D5CDD505-2E9C-101B-9397-08002B2CF9AE}" pid="3" name="KSOProductBuildVer">
    <vt:lpwstr>2057-12.2.0.23202</vt:lpwstr>
  </property>
</Properties>
</file>